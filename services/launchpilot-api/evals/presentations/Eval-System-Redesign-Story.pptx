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dee3c993d4364" /><Relationship Type="http://schemas.openxmlformats.org/officeDocument/2006/relationships/extended-properties" Target="/docProps/app.xml" Id="R1d76031647bd44bc" /><Relationship Type="http://schemas.openxmlformats.org/officeDocument/2006/relationships/officeDocument" Target="/ppt/presentation.xml" Id="Rb3f92fee0bea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83f7f3248e4b0c"/>
  </p:sldMasterIdLst>
  <p:notesMasterIdLst>
    <p:notesMasterId xmlns:r="http://schemas.openxmlformats.org/officeDocument/2006/relationships" r:id="R4eb570cf40454a02"/>
  </p:notesMasterIdLst>
  <p:sldIdLst>
    <p:sldId xmlns:r="http://schemas.openxmlformats.org/officeDocument/2006/relationships" id="256" r:id="Rd5ba05475e844664"/>
    <p:sldId xmlns:r="http://schemas.openxmlformats.org/officeDocument/2006/relationships" id="257" r:id="R9db2eecc47f74e30"/>
    <p:sldId xmlns:r="http://schemas.openxmlformats.org/officeDocument/2006/relationships" id="258" r:id="R79987ac3b4734337"/>
    <p:sldId xmlns:r="http://schemas.openxmlformats.org/officeDocument/2006/relationships" id="259" r:id="R48de93fb9b9d4de1"/>
    <p:sldId xmlns:r="http://schemas.openxmlformats.org/officeDocument/2006/relationships" id="260" r:id="Rca16c517ffd149b4"/>
    <p:sldId xmlns:r="http://schemas.openxmlformats.org/officeDocument/2006/relationships" id="261" r:id="Re97cd04e3a5848fc"/>
    <p:sldId xmlns:r="http://schemas.openxmlformats.org/officeDocument/2006/relationships" id="262" r:id="Rcefdf07dffbd4d70"/>
    <p:sldId xmlns:r="http://schemas.openxmlformats.org/officeDocument/2006/relationships" id="263" r:id="Re59a67272cd04d9b"/>
    <p:sldId xmlns:r="http://schemas.openxmlformats.org/officeDocument/2006/relationships" id="264" r:id="R0393be1bb2b1423c"/>
    <p:sldId xmlns:r="http://schemas.openxmlformats.org/officeDocument/2006/relationships" id="265" r:id="Refd404b4ef42414b"/>
    <p:sldId xmlns:r="http://schemas.openxmlformats.org/officeDocument/2006/relationships" id="266" r:id="R619ea937ffa54056"/>
    <p:sldId xmlns:r="http://schemas.openxmlformats.org/officeDocument/2006/relationships" id="267" r:id="R4ad08a69b71b4ad9"/>
    <p:sldId xmlns:r="http://schemas.openxmlformats.org/officeDocument/2006/relationships" id="268" r:id="R4d5c23d8fdd1482b"/>
    <p:sldId xmlns:r="http://schemas.openxmlformats.org/officeDocument/2006/relationships" id="269" r:id="Rfaa02b37c59046b0"/>
    <p:sldId xmlns:r="http://schemas.openxmlformats.org/officeDocument/2006/relationships" id="270" r:id="Rfa9d0225fee74b45"/>
    <p:sldId xmlns:r="http://schemas.openxmlformats.org/officeDocument/2006/relationships" id="271" r:id="Rdeeac09801994f43"/>
    <p:sldId xmlns:r="http://schemas.openxmlformats.org/officeDocument/2006/relationships" id="272" r:id="R6b5c067c928242f5"/>
    <p:sldId xmlns:r="http://schemas.openxmlformats.org/officeDocument/2006/relationships" id="273" r:id="R99fef6455aca49f1"/>
    <p:sldId xmlns:r="http://schemas.openxmlformats.org/officeDocument/2006/relationships" id="274" r:id="R7078941258c84d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7e5b039b144d0e" /><Relationship Type="http://schemas.openxmlformats.org/officeDocument/2006/relationships/slideMaster" Target="/ppt/slideMasters/slideMaster1.xml" Id="R4d83f7f3248e4b0c" /><Relationship Type="http://schemas.openxmlformats.org/officeDocument/2006/relationships/notesMaster" Target="/ppt/notesMasters/notesMaster1.xml" Id="R4eb570cf40454a02" /><Relationship Type="http://schemas.openxmlformats.org/officeDocument/2006/relationships/presProps" Target="/ppt/presProps.xml" Id="R0ec9e886aaad4495" /><Relationship Type="http://schemas.openxmlformats.org/officeDocument/2006/relationships/tableStyles" Target="/ppt/tableStyles.xml" Id="R8723ba7a4c124dce" /><Relationship Type="http://schemas.openxmlformats.org/officeDocument/2006/relationships/slide" Target="/ppt/slides/slide1.xml" Id="Rd5ba05475e844664" /><Relationship Type="http://schemas.openxmlformats.org/officeDocument/2006/relationships/slide" Target="/ppt/slides/slide2.xml" Id="R9db2eecc47f74e30" /><Relationship Type="http://schemas.openxmlformats.org/officeDocument/2006/relationships/slide" Target="/ppt/slides/slide3.xml" Id="R79987ac3b4734337" /><Relationship Type="http://schemas.openxmlformats.org/officeDocument/2006/relationships/slide" Target="/ppt/slides/slide4.xml" Id="R48de93fb9b9d4de1" /><Relationship Type="http://schemas.openxmlformats.org/officeDocument/2006/relationships/slide" Target="/ppt/slides/slide5.xml" Id="Rca16c517ffd149b4" /><Relationship Type="http://schemas.openxmlformats.org/officeDocument/2006/relationships/slide" Target="/ppt/slides/slide6.xml" Id="Re97cd04e3a5848fc" /><Relationship Type="http://schemas.openxmlformats.org/officeDocument/2006/relationships/slide" Target="/ppt/slides/slide7.xml" Id="Rcefdf07dffbd4d70" /><Relationship Type="http://schemas.openxmlformats.org/officeDocument/2006/relationships/slide" Target="/ppt/slides/slide8.xml" Id="Re59a67272cd04d9b" /><Relationship Type="http://schemas.openxmlformats.org/officeDocument/2006/relationships/slide" Target="/ppt/slides/slide9.xml" Id="R0393be1bb2b1423c" /><Relationship Type="http://schemas.openxmlformats.org/officeDocument/2006/relationships/slide" Target="/ppt/slides/slide10.xml" Id="Refd404b4ef42414b" /><Relationship Type="http://schemas.openxmlformats.org/officeDocument/2006/relationships/slide" Target="/ppt/slides/slide11.xml" Id="R619ea937ffa54056" /><Relationship Type="http://schemas.openxmlformats.org/officeDocument/2006/relationships/slide" Target="/ppt/slides/slide12.xml" Id="R4ad08a69b71b4ad9" /><Relationship Type="http://schemas.openxmlformats.org/officeDocument/2006/relationships/slide" Target="/ppt/slides/slide13.xml" Id="R4d5c23d8fdd1482b" /><Relationship Type="http://schemas.openxmlformats.org/officeDocument/2006/relationships/slide" Target="/ppt/slides/slide14.xml" Id="Rfaa02b37c59046b0" /><Relationship Type="http://schemas.openxmlformats.org/officeDocument/2006/relationships/slide" Target="/ppt/slides/slide15.xml" Id="Rfa9d0225fee74b45" /><Relationship Type="http://schemas.openxmlformats.org/officeDocument/2006/relationships/slide" Target="/ppt/slides/slide16.xml" Id="Rdeeac09801994f43" /><Relationship Type="http://schemas.openxmlformats.org/officeDocument/2006/relationships/slide" Target="/ppt/slides/slide17.xml" Id="R6b5c067c928242f5" /><Relationship Type="http://schemas.openxmlformats.org/officeDocument/2006/relationships/slide" Target="/ppt/slides/slide18.xml" Id="R99fef6455aca49f1" /><Relationship Type="http://schemas.openxmlformats.org/officeDocument/2006/relationships/slide" Target="/ppt/slides/slide19.xml" Id="R7078941258c84d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47473d92347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e803faf0644492" /><Relationship Type="http://schemas.openxmlformats.org/officeDocument/2006/relationships/notesMaster" Target="/ppt/notesMasters/notesMaster1.xml" Id="Rfd510a2ceb42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e4d9932514b14" /><Relationship Type="http://schemas.openxmlformats.org/officeDocument/2006/relationships/notesMaster" Target="/ppt/notesMasters/notesMaster1.xml" Id="R52200ea56ba6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483378f284dbd" /><Relationship Type="http://schemas.openxmlformats.org/officeDocument/2006/relationships/notesMaster" Target="/ppt/notesMasters/notesMaster1.xml" Id="R128e35af741a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59b5649e734e77" /><Relationship Type="http://schemas.openxmlformats.org/officeDocument/2006/relationships/notesMaster" Target="/ppt/notesMasters/notesMaster1.xml" Id="R885cf3a24162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4afbd8a6344224" /><Relationship Type="http://schemas.openxmlformats.org/officeDocument/2006/relationships/notesMaster" Target="/ppt/notesMasters/notesMaster1.xml" Id="R6e3a1526a48b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a2d67a75144937" /><Relationship Type="http://schemas.openxmlformats.org/officeDocument/2006/relationships/notesMaster" Target="/ppt/notesMasters/notesMaster1.xml" Id="Rd76294f8fa4341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1c5b9c3f74ee8" /><Relationship Type="http://schemas.openxmlformats.org/officeDocument/2006/relationships/notesMaster" Target="/ppt/notesMasters/notesMaster1.xml" Id="R45d41ce997f846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56802383484103" /><Relationship Type="http://schemas.openxmlformats.org/officeDocument/2006/relationships/notesMaster" Target="/ppt/notesMasters/notesMaster1.xml" Id="R7f6bc8907c194c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cdb2821ad4d02" /><Relationship Type="http://schemas.openxmlformats.org/officeDocument/2006/relationships/notesMaster" Target="/ppt/notesMasters/notesMaster1.xml" Id="R433b069c75c445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7d5773afb24ed4" /><Relationship Type="http://schemas.openxmlformats.org/officeDocument/2006/relationships/notesMaster" Target="/ppt/notesMasters/notesMaster1.xml" Id="R9aaac3d48042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f1dcee8230420d" /><Relationship Type="http://schemas.openxmlformats.org/officeDocument/2006/relationships/notesMaster" Target="/ppt/notesMasters/notesMaster1.xml" Id="R69948973f3a746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dd12c1905438f" /><Relationship Type="http://schemas.openxmlformats.org/officeDocument/2006/relationships/notesMaster" Target="/ppt/notesMasters/notesMaster1.xml" Id="Rc95da5832b834b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b3ef634f694b21" /><Relationship Type="http://schemas.openxmlformats.org/officeDocument/2006/relationships/notesMaster" Target="/ppt/notesMasters/notesMaster1.xml" Id="R0f281c53f96846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6b72d718fe4f86" /><Relationship Type="http://schemas.openxmlformats.org/officeDocument/2006/relationships/notesMaster" Target="/ppt/notesMasters/notesMaster1.xml" Id="R65910189c37543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2f6fc26ce547e6" /><Relationship Type="http://schemas.openxmlformats.org/officeDocument/2006/relationships/notesMaster" Target="/ppt/notesMasters/notesMaster1.xml" Id="Rc661a10fd79d45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9e8298961b4079" /><Relationship Type="http://schemas.openxmlformats.org/officeDocument/2006/relationships/notesMaster" Target="/ppt/notesMasters/notesMaster1.xml" Id="Re19171a17cd440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fd56cc386d4956" /><Relationship Type="http://schemas.openxmlformats.org/officeDocument/2006/relationships/notesMaster" Target="/ppt/notesMasters/notesMaster1.xml" Id="R6c1643216d974a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b94b4155914bb4" /><Relationship Type="http://schemas.openxmlformats.org/officeDocument/2006/relationships/notesMaster" Target="/ppt/notesMasters/notesMaster1.xml" Id="Rfdde1e77e33143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1e55614ae94556" /><Relationship Type="http://schemas.openxmlformats.org/officeDocument/2006/relationships/notesMaster" Target="/ppt/notesMasters/notesMaster1.xml" Id="Rf79790abe769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질문은 하나입니다. 기능이 늘었다는 사실과 실제로 더 잘 풀게 됐다는 주장을 어떻게 구분할 것인가입니다.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- /Users/seonung/Documents/Google Rapid Agent Hackaton/services/launchpilot-api/evals/JUDGE.md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시스템 변화는 코드 diff로 확인할 수 있지만, 사용자 문제 해결력의 증가는 실험으로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작업을 비난하려는 것이 아닙니다. 시스템과 시험이 함께 자라면서 시험이 구현의 역사를 흡수한 것이 문제였습니다.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개편의 필요성은 이 세 오류에 있습니다. 새 근거, 다른 경로, 비용 증가를 한 점수로 처리하면 개선 여부를 잘못 판단할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슬라이드가 재설계의 중심입니다. 평가 데이터는 풀어야 할 문제를 말하고, 시스템은 푸는 방법을 자유롭게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코드에서는 각각 Problem, Eval Specification, Run Result로 부르지만 본문에서는 쉬운 이름만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Hackaton/services/launchpilot-api/src/launchpilot/evaluation/contracts/architecture_eval.py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답은 가장 중요한 결과입니다. 풀이 과정은 원인을 찾기 위한 자료이고, 시간과 비용은 선택의 대가입니다.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데이터는 시스템 설명서가 아닙니다. 어떤 문제를 어떤 기준으로 풀어야 하는지만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Hackaton/services/launchpilot-api/evals/datasets/README.md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목록은 우리가 아는 범위이지 현실 전체가 아닙니다. 목록에 없는 문서는 자동 오답이 아니라 아직 모르는 상태로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Hackaton/services/launchpilot-api/src/launchpilot/evaluation/contracts/architecture_eval.py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전 검사는 시험 문제 자체를 검토합니다. 실행 후 검사는 실제 답과 실제로 찾은 근거만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Hackaton/services/launchpilot-api/evals/JUDGE.md</a:t>
            </a:r>
          </a:p>
          <a:p xmlns:a="http://schemas.openxmlformats.org/drawingml/2006/main">
            <a:r>
              <a:t>- https://googleapis.github.io/python-genai/index.html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최종 점수를 직접 말하게 하지 않았습니다. 언어의 의미는 AI가 판단하고 성공 규칙은 코드가 고정합니다.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Hackaton/services/launchpilot-api/src/launchpilot/evaluation/judging/task_grader.py</a:t>
            </a:r>
          </a:p>
          <a:p xmlns:a="http://schemas.openxmlformats.org/drawingml/2006/main">
            <a:r>
              <a:t>- /Users/seonung/Documents/Google Rapid Agent Hackaton/services/launchpilot-api/src/launchpilot/evaluation/judging/policy.py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111개는 통과했고, 비교 문제 10개는 거절됐으며, 답이 없다고 표시된 29개는 현재 자료만으로 부재를 증명할 수 없어 보류했습니다.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Hackaton/services/launchpilot-api/evals/datasets/marketing-ops-task-2026-08-judge-ready/adjudication/run-summary.json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번의 독립 검사가 모두 같은 이유로 비교 문제 10개를 거절했습니다. 질문의 범위와 등록된 근거의 범위가 맞지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Hackaton/services/launchpilot-api/evals/datasets/marketing-ops-task-2026-08-judge-ready/adjudication/machine-adjudications.jsonl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입력을 여러 번 실행해 성공률과 흔들림을 봅니다. 새로 해결한 문제와 회귀, 품질과 비용을 함께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Hackaton/services/launchpilot-api/src/launchpilot/evaluation/controlled_runner.py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체계를 복잡하게 만드는 것이 목적이 아닙니다. 시스템을 자유롭게 바꾸면서도 그 변화가 개선인지 믿을 수 있게 만드는 것이 목적입니다.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- /Users/seonung/Documents/Google Rapid Agent Hackaton/services/launchpilot-api/evals/JUDGE.md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디렉터리는 서로 다른 평가 체계가 아니라 데이터, 실행 코드, 안전장치라는 세 역할입니다.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설정, 원본 근거 확인, AI의 구조화 판단, 코드 계산이 분리돼 있습니다. 어느 단계가 실패했는지 추적할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Hackaton/services/launchpilot-api/src/launchpilot/evaluation/judging/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TrialStatus와 failure stage를 분리했고, 시스템 효율과 채점기 효율도 별도 필드로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Hackaton/services/launchpilot-api/src/launchpilot/evaluation/contracts/architecture_eval.py</a:t>
            </a:r>
          </a:p>
          <a:p xmlns:a="http://schemas.openxmlformats.org/drawingml/2006/main">
            <a:r>
              <a:t>- /Users/seonung/Documents/Google Rapid Agent Hackaton/services/launchpilot-api/src/launchpilot/evaluation/controlled_runner.py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Vertex 호출로 연결을 확인했습니다. 비용은 2026년 8월 30일 공식 단가를 기준으로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/Users/seonung/Documents/Google Rapid Agent Hackaton/services/launchpilot-api/evals/datasets/marketing-ops-task-2026-08-judge-ready/adjudication/run-summary.json</a:t>
            </a:r>
          </a:p>
          <a:p xmlns:a="http://schemas.openxmlformats.org/drawingml/2006/main">
            <a:r>
              <a:t>- https://cloud.google.com/gemini-enterprise-agent-platform/generative-ai/pricing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1f251f32a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ca5e506d64aa9" /><Relationship Type="http://schemas.openxmlformats.org/officeDocument/2006/relationships/slideLayout" Target="/ppt/slideLayouts/slideLayout1.xml" Id="R96a4f3e686f0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a4f3e686f0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984e089a4488f" /><Relationship Type="http://schemas.openxmlformats.org/officeDocument/2006/relationships/notesSlide" Target="/ppt/notesSlides/notesSlide1.xml" Id="Rd3e7564a87554b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002bb3d9472d" /><Relationship Type="http://schemas.openxmlformats.org/officeDocument/2006/relationships/notesSlide" Target="/ppt/notesSlides/notesSlide2.xml" Id="R902d159ee0d4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945f3c4764217" /><Relationship Type="http://schemas.openxmlformats.org/officeDocument/2006/relationships/notesSlide" Target="/ppt/notesSlides/notesSlide3.xml" Id="R91f91dd1c5a1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cd59af87c4f72" /><Relationship Type="http://schemas.openxmlformats.org/officeDocument/2006/relationships/notesSlide" Target="/ppt/notesSlides/notesSlide4.xml" Id="R706554c8aed0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5421b5c0a451f" /><Relationship Type="http://schemas.openxmlformats.org/officeDocument/2006/relationships/notesSlide" Target="/ppt/notesSlides/notesSlide5.xml" Id="Rdfa5b000e516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63c85406d47f9" /><Relationship Type="http://schemas.openxmlformats.org/officeDocument/2006/relationships/notesSlide" Target="/ppt/notesSlides/notesSlide6.xml" Id="R92fa10299c3744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20a381e04823" /><Relationship Type="http://schemas.openxmlformats.org/officeDocument/2006/relationships/notesSlide" Target="/ppt/notesSlides/notesSlide7.xml" Id="R29ecfcfbac5348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6be9afa534a8f" /><Relationship Type="http://schemas.openxmlformats.org/officeDocument/2006/relationships/notesSlide" Target="/ppt/notesSlides/notesSlide8.xml" Id="R999cb26fcebb40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37853a9141df" /><Relationship Type="http://schemas.openxmlformats.org/officeDocument/2006/relationships/notesSlide" Target="/ppt/notesSlides/notesSlide9.xml" Id="R251370c1dac746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83afbb34a42ef" /><Relationship Type="http://schemas.openxmlformats.org/officeDocument/2006/relationships/notesSlide" Target="/ppt/notesSlides/notesSlide10.xml" Id="R4edd985656124b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f1a4c12a04f32" /><Relationship Type="http://schemas.openxmlformats.org/officeDocument/2006/relationships/notesSlide" Target="/ppt/notesSlides/notesSlide11.xml" Id="R7a8bc3afa7964c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9946d2a454a23" /><Relationship Type="http://schemas.openxmlformats.org/officeDocument/2006/relationships/notesSlide" Target="/ppt/notesSlides/notesSlide12.xml" Id="R7bc1e95c4aa84e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22280693a441a" /><Relationship Type="http://schemas.openxmlformats.org/officeDocument/2006/relationships/notesSlide" Target="/ppt/notesSlides/notesSlide13.xml" Id="Rae56dab5591846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8cd26a8e481c" /><Relationship Type="http://schemas.openxmlformats.org/officeDocument/2006/relationships/notesSlide" Target="/ppt/notesSlides/notesSlide14.xml" Id="R8743edd4a6d343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e4283db545fb" /><Relationship Type="http://schemas.openxmlformats.org/officeDocument/2006/relationships/notesSlide" Target="/ppt/notesSlides/notesSlide15.xml" Id="R2739faf81bc64e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ae20c3984774" /><Relationship Type="http://schemas.openxmlformats.org/officeDocument/2006/relationships/notesSlide" Target="/ppt/notesSlides/notesSlide16.xml" Id="R5b15ea46567849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7a2f4a5e4435f" /><Relationship Type="http://schemas.openxmlformats.org/officeDocument/2006/relationships/notesSlide" Target="/ppt/notesSlides/notesSlide17.xml" Id="Rcdf4ccd27ca84a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7fc9f50b64bc7" /><Relationship Type="http://schemas.openxmlformats.org/officeDocument/2006/relationships/notesSlide" Target="/ppt/notesSlides/notesSlide18.xml" Id="R1a4bbce082bf4b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4270cbe55461a" /><Relationship Type="http://schemas.openxmlformats.org/officeDocument/2006/relationships/notesSlide" Target="/ppt/notesSlides/notesSlide19.xml" Id="Rea8aab0a7b4f47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rtzvsh">
            <a:extLst xmlns:a="http://schemas.openxmlformats.org/drawingml/2006/main">
              <a:ext uri="{FF2B5EF4-FFF2-40B4-BE49-F238E27FC236}">
                <a16:creationId xmlns:a16="http://schemas.microsoft.com/office/drawing/2014/main" id="{96DD85D1-63CC-4C8E-8B31-9DBD4E3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AGENTIC RAG EVALUATION</a:t>
            </a:r>
          </a:p>
        </p:txBody>
      </p:sp>
      <p:sp>
        <p:nvSpPr>
          <p:cNvPr id="2" name="text-e9xt5i">
            <a:extLst xmlns:a="http://schemas.openxmlformats.org/drawingml/2006/main">
              <a:ext uri="{FF2B5EF4-FFF2-40B4-BE49-F238E27FC236}">
                <a16:creationId xmlns:a16="http://schemas.microsoft.com/office/drawing/2014/main" id="{0ED6DE2C-7309-4C9A-AC53-33BEF24F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71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더 복잡해졌는데,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정말 더 좋아졌을까?</a:t>
            </a:r>
          </a:p>
        </p:txBody>
      </p:sp>
      <p:cxnSp>
        <p:nvCxnSpPr>
          <p:cNvPr id="8" name="rule-3glj2m"/>
          <p:cNvCxnSpPr/>
          <p:nvPr/>
        </p:nvCxnSpPr>
        <p:spPr>
          <a:xfrm xmlns:a="http://schemas.openxmlformats.org/drawingml/2006/main">
            <a:off x="400050" y="4686300"/>
            <a:ext cx="542925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text-r5i4zp">
            <a:extLst xmlns:a="http://schemas.openxmlformats.org/drawingml/2006/main">
              <a:ext uri="{FF2B5EF4-FFF2-40B4-BE49-F238E27FC236}">
                <a16:creationId xmlns:a16="http://schemas.microsoft.com/office/drawing/2014/main" id="{109C7157-57D8-418D-8964-02E8CF03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도구 중심 시험을 사용자 문제 중심 실험으로 바꾼 이유와 방법</a:t>
            </a:r>
          </a:p>
        </p:txBody>
      </p:sp>
      <p:sp>
        <p:nvSpPr>
          <p:cNvPr id="5" name="text-h0fsy1">
            <a:extLst xmlns:a="http://schemas.openxmlformats.org/drawingml/2006/main">
              <a:ext uri="{FF2B5EF4-FFF2-40B4-BE49-F238E27FC236}">
                <a16:creationId xmlns:a16="http://schemas.microsoft.com/office/drawing/2014/main" id="{9D8A624D-07A0-4FA1-AE70-70DCB30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LaunchPilot Eval · 2026.08</a:t>
            </a:r>
          </a:p>
        </p:txBody>
      </p:sp>
    </p:spTree>
    <p:extLst>
      <p:ext uri="{BB962C8B-B14F-4D97-AF65-F5344CB8AC3E}">
        <p14:creationId xmlns:p14="http://schemas.microsoft.com/office/powerpoint/2010/main" val="418118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0E16D611-0155-4F88-B412-27C935F8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1567156-580F-4BFE-A6DE-16739358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기능이 늘어난 것과 더 잘 풀게 된 것은 다르다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727115EF-86B1-4E5B-B64A-38722A09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text-jiue8n">
            <a:extLst xmlns:a="http://schemas.openxmlformats.org/drawingml/2006/main">
              <a:ext uri="{FF2B5EF4-FFF2-40B4-BE49-F238E27FC236}">
                <a16:creationId xmlns:a16="http://schemas.microsoft.com/office/drawing/2014/main" id="{099F612C-55EC-4625-9142-88D7D387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SQL + 키워드 검색</a:t>
            </a:r>
          </a:p>
        </p:txBody>
      </p:sp>
      <p:sp>
        <p:nvSpPr>
          <p:cNvPr id="5" name="text-wu1f6i">
            <a:extLst xmlns:a="http://schemas.openxmlformats.org/drawingml/2006/main">
              <a:ext uri="{FF2B5EF4-FFF2-40B4-BE49-F238E27FC236}">
                <a16:creationId xmlns:a16="http://schemas.microsoft.com/office/drawing/2014/main" id="{CE8B70A8-18CE-4FF4-AA19-227B589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52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 의미 기반 검색</a:t>
            </a:r>
          </a:p>
        </p:txBody>
      </p:sp>
      <p:sp>
        <p:nvSpPr>
          <p:cNvPr id="6" name="text-c6d7tc">
            <a:extLst xmlns:a="http://schemas.openxmlformats.org/drawingml/2006/main">
              <a:ext uri="{FF2B5EF4-FFF2-40B4-BE49-F238E27FC236}">
                <a16:creationId xmlns:a16="http://schemas.microsoft.com/office/drawing/2014/main" id="{DE103534-5420-4613-AED5-3BB090C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 관계 기반 검색</a:t>
            </a:r>
          </a:p>
        </p:txBody>
      </p:sp>
      <p:cxnSp>
        <p:nvCxnSpPr>
          <p:cNvPr id="17" name="rule-kt9r9j"/>
          <p:cNvCxnSpPr/>
          <p:nvPr/>
        </p:nvCxnSpPr>
        <p:spPr>
          <a:xfrm xmlns:a="http://schemas.openxmlformats.org/drawingml/2006/main">
            <a:off x="571500" y="2905125"/>
            <a:ext cx="9144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text-ese9r4">
            <a:extLst xmlns:a="http://schemas.openxmlformats.org/drawingml/2006/main">
              <a:ext uri="{FF2B5EF4-FFF2-40B4-BE49-F238E27FC236}">
                <a16:creationId xmlns:a16="http://schemas.microsoft.com/office/drawing/2014/main" id="{0ADF5D7D-348F-46D1-9F62-376A2CA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기능과 선택지는 계속 늘었다</a:t>
            </a:r>
          </a:p>
        </p:txBody>
      </p:sp>
      <p:sp>
        <p:nvSpPr>
          <p:cNvPr id="9" name="box-a0h3nt">
            <a:extLst xmlns:a="http://schemas.openxmlformats.org/drawingml/2006/main">
              <a:ext uri="{FF2B5EF4-FFF2-40B4-BE49-F238E27FC236}">
                <a16:creationId xmlns:a16="http://schemas.microsoft.com/office/drawing/2014/main" id="{5FB0843E-D094-40AC-9D38-CD3FEEE1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066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wijs0">
            <a:extLst xmlns:a="http://schemas.openxmlformats.org/drawingml/2006/main">
              <a:ext uri="{FF2B5EF4-FFF2-40B4-BE49-F238E27FC236}">
                <a16:creationId xmlns:a16="http://schemas.microsoft.com/office/drawing/2014/main" id="{89433A3A-97EE-4535-BE95-C93026D4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하지만 실제 사용자 문제 해결력이 늘었는지는 별도의 증명이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470439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3">
            <a:extLst xmlns:a="http://schemas.openxmlformats.org/drawingml/2006/main">
              <a:ext uri="{FF2B5EF4-FFF2-40B4-BE49-F238E27FC236}">
                <a16:creationId xmlns:a16="http://schemas.microsoft.com/office/drawing/2014/main" id="{F790ECC0-53DB-421C-B9A6-DE89CD4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07F21B6-C1B9-4D8B-9DA7-5BC40DF8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기존 시험은 과거 시스템의 구조를 기억하고 있었다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7A3523AB-073F-4E0D-985B-B7E21D5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box-bu4s64">
            <a:extLst xmlns:a="http://schemas.openxmlformats.org/drawingml/2006/main">
              <a:ext uri="{FF2B5EF4-FFF2-40B4-BE49-F238E27FC236}">
                <a16:creationId xmlns:a16="http://schemas.microsoft.com/office/drawing/2014/main" id="{4FB09EAE-CC44-4C6F-A3A4-F99AF43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id0gae">
            <a:extLst xmlns:a="http://schemas.openxmlformats.org/drawingml/2006/main">
              <a:ext uri="{FF2B5EF4-FFF2-40B4-BE49-F238E27FC236}">
                <a16:creationId xmlns:a16="http://schemas.microsoft.com/office/drawing/2014/main" id="{F69BC33E-A234-4195-AD9F-9EFA218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</a:p>
        </p:txBody>
      </p:sp>
      <p:sp>
        <p:nvSpPr>
          <p:cNvPr id="6" name="text-96hhlk">
            <a:extLst xmlns:a="http://schemas.openxmlformats.org/drawingml/2006/main">
              <a:ext uri="{FF2B5EF4-FFF2-40B4-BE49-F238E27FC236}">
                <a16:creationId xmlns:a16="http://schemas.microsoft.com/office/drawing/2014/main" id="{EA0D7AFC-DC83-4E87-B668-4157B897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95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SQL과 키워드 검색에 맞춘 질문과 정답</a:t>
            </a:r>
          </a:p>
        </p:txBody>
      </p:sp>
      <p:sp>
        <p:nvSpPr>
          <p:cNvPr id="7" name="box-voum8n">
            <a:extLst xmlns:a="http://schemas.openxmlformats.org/drawingml/2006/main">
              <a:ext uri="{FF2B5EF4-FFF2-40B4-BE49-F238E27FC236}">
                <a16:creationId xmlns:a16="http://schemas.microsoft.com/office/drawing/2014/main" id="{3CAD72ED-4196-4307-ACFC-A38501F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7170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66e8t">
            <a:extLst xmlns:a="http://schemas.openxmlformats.org/drawingml/2006/main">
              <a:ext uri="{FF2B5EF4-FFF2-40B4-BE49-F238E27FC236}">
                <a16:creationId xmlns:a16="http://schemas.microsoft.com/office/drawing/2014/main" id="{2E6CE67A-75B1-4832-83D9-A1E74A6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기능 추가</a:t>
            </a:r>
          </a:p>
        </p:txBody>
      </p:sp>
      <p:sp>
        <p:nvSpPr>
          <p:cNvPr id="9" name="text-mdsebc">
            <a:extLst xmlns:a="http://schemas.openxmlformats.org/drawingml/2006/main">
              <a:ext uri="{FF2B5EF4-FFF2-40B4-BE49-F238E27FC236}">
                <a16:creationId xmlns:a16="http://schemas.microsoft.com/office/drawing/2014/main" id="{AE46DE6F-272D-4946-AFFF-3E940778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57500"/>
            <a:ext cx="2495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의미 검색·관계 검색에 맞춘 사례를 계속 추가</a:t>
            </a:r>
          </a:p>
        </p:txBody>
      </p:sp>
      <p:sp>
        <p:nvSpPr>
          <p:cNvPr id="10" name="box-av7efg">
            <a:extLst xmlns:a="http://schemas.openxmlformats.org/drawingml/2006/main">
              <a:ext uri="{FF2B5EF4-FFF2-40B4-BE49-F238E27FC236}">
                <a16:creationId xmlns:a16="http://schemas.microsoft.com/office/drawing/2014/main" id="{19647498-C64D-4BF4-BF4A-8FC604A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f8iva">
            <a:extLst xmlns:a="http://schemas.openxmlformats.org/drawingml/2006/main">
              <a:ext uri="{FF2B5EF4-FFF2-40B4-BE49-F238E27FC236}">
                <a16:creationId xmlns:a16="http://schemas.microsoft.com/office/drawing/2014/main" id="{E50414CF-A593-4C78-967F-B06D996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2" name="text-gcd324">
            <a:extLst xmlns:a="http://schemas.openxmlformats.org/drawingml/2006/main">
              <a:ext uri="{FF2B5EF4-FFF2-40B4-BE49-F238E27FC236}">
                <a16:creationId xmlns:a16="http://schemas.microsoft.com/office/drawing/2014/main" id="{204C2E55-606B-4FB1-868C-D71D23D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495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시험이 문제보다 시스템의 발전사를 더 많이 반영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48050" y="3409950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3409950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5" name="text-jtnx5z">
            <a:extLst xmlns:a="http://schemas.openxmlformats.org/drawingml/2006/main">
              <a:ext uri="{FF2B5EF4-FFF2-40B4-BE49-F238E27FC236}">
                <a16:creationId xmlns:a16="http://schemas.microsoft.com/office/drawing/2014/main" id="{23DDB9FB-20B0-4707-8344-46F90CDF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잘못 만든 시험이 아니라, 점진적 개발 과정에서 자연스럽게 생긴 결합이었다.</a:t>
            </a:r>
          </a:p>
        </p:txBody>
      </p:sp>
    </p:spTree>
    <p:extLst>
      <p:ext uri="{BB962C8B-B14F-4D97-AF65-F5344CB8AC3E}">
        <p14:creationId xmlns:p14="http://schemas.microsoft.com/office/powerpoint/2010/main" val="1550922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4">
            <a:extLst xmlns:a="http://schemas.openxmlformats.org/drawingml/2006/main">
              <a:ext uri="{FF2B5EF4-FFF2-40B4-BE49-F238E27FC236}">
                <a16:creationId xmlns:a16="http://schemas.microsoft.com/office/drawing/2014/main" id="{97CD8693-8216-4DF8-AA42-F3BD8AA3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5DDFBD2-2829-4F79-B1FA-8CB8DB7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 결합은 세 가지 잘못된 판단을 만들 수 있다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A1B92D1D-9206-4D4C-89AE-E5DA61EF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box-dxlq41">
            <a:extLst xmlns:a="http://schemas.openxmlformats.org/drawingml/2006/main">
              <a:ext uri="{FF2B5EF4-FFF2-40B4-BE49-F238E27FC236}">
                <a16:creationId xmlns:a16="http://schemas.microsoft.com/office/drawing/2014/main" id="{80D0B2AC-FFAC-4B1C-B23C-594B9D9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x762e3">
            <a:extLst xmlns:a="http://schemas.openxmlformats.org/drawingml/2006/main">
              <a:ext uri="{FF2B5EF4-FFF2-40B4-BE49-F238E27FC236}">
                <a16:creationId xmlns:a16="http://schemas.microsoft.com/office/drawing/2014/main" id="{BFD4DBE0-BCB7-4232-B758-7D56570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근거를 오답 처리</a:t>
            </a:r>
          </a:p>
        </p:txBody>
      </p:sp>
      <p:sp>
        <p:nvSpPr>
          <p:cNvPr id="6" name="text-0q9lpa">
            <a:extLst xmlns:a="http://schemas.openxmlformats.org/drawingml/2006/main">
              <a:ext uri="{FF2B5EF4-FFF2-40B4-BE49-F238E27FC236}">
                <a16:creationId xmlns:a16="http://schemas.microsoft.com/office/drawing/2014/main" id="{515C3F3D-D02D-4E03-83D6-022642C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30289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검색기가 더 좋은 문서를 찾아도 기존 정답 목록에 없으면 실패로 볼 수 있다.</a:t>
            </a:r>
          </a:p>
        </p:txBody>
      </p:sp>
      <p:sp>
        <p:nvSpPr>
          <p:cNvPr id="7" name="box-wg53pu">
            <a:extLst xmlns:a="http://schemas.openxmlformats.org/drawingml/2006/main">
              <a:ext uri="{FF2B5EF4-FFF2-40B4-BE49-F238E27FC236}">
                <a16:creationId xmlns:a16="http://schemas.microsoft.com/office/drawing/2014/main" id="{6675BF85-9DF0-4ADC-893D-4174B37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52625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m7rdxj">
            <a:extLst xmlns:a="http://schemas.openxmlformats.org/drawingml/2006/main">
              <a:ext uri="{FF2B5EF4-FFF2-40B4-BE49-F238E27FC236}">
                <a16:creationId xmlns:a16="http://schemas.microsoft.com/office/drawing/2014/main" id="{7AC45F01-CED7-41F9-B393-FF577C3D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62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다른 성공 경로를 실패 처리</a:t>
            </a:r>
          </a:p>
        </p:txBody>
      </p:sp>
      <p:sp>
        <p:nvSpPr>
          <p:cNvPr id="9" name="text-q1641f">
            <a:extLst xmlns:a="http://schemas.openxmlformats.org/drawingml/2006/main">
              <a:ext uri="{FF2B5EF4-FFF2-40B4-BE49-F238E27FC236}">
                <a16:creationId xmlns:a16="http://schemas.microsoft.com/office/drawing/2014/main" id="{B75F95A6-4F67-4349-9BB4-4140C5B6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38425"/>
            <a:ext cx="30289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예상한 첫 도구와 달라도 끝내 정확히 답했다면 결과와 과정은 따로 봐야 한다.</a:t>
            </a:r>
          </a:p>
        </p:txBody>
      </p:sp>
      <p:sp>
        <p:nvSpPr>
          <p:cNvPr id="10" name="box-2hasz2">
            <a:extLst xmlns:a="http://schemas.openxmlformats.org/drawingml/2006/main">
              <a:ext uri="{FF2B5EF4-FFF2-40B4-BE49-F238E27FC236}">
                <a16:creationId xmlns:a16="http://schemas.microsoft.com/office/drawing/2014/main" id="{38A1BAA7-F598-45F2-BE3B-E4B21FC2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486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qpjpc5">
            <a:extLst xmlns:a="http://schemas.openxmlformats.org/drawingml/2006/main">
              <a:ext uri="{FF2B5EF4-FFF2-40B4-BE49-F238E27FC236}">
                <a16:creationId xmlns:a16="http://schemas.microsoft.com/office/drawing/2014/main" id="{B7808AEB-0A12-4DA7-AE23-7AECA55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621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복잡성을 개선으로 착각</a:t>
            </a:r>
          </a:p>
        </p:txBody>
      </p:sp>
      <p:sp>
        <p:nvSpPr>
          <p:cNvPr id="12" name="text-4iffqi">
            <a:extLst xmlns:a="http://schemas.openxmlformats.org/drawingml/2006/main">
              <a:ext uri="{FF2B5EF4-FFF2-40B4-BE49-F238E27FC236}">
                <a16:creationId xmlns:a16="http://schemas.microsoft.com/office/drawing/2014/main" id="{D0178AD9-2FA8-491B-B1A3-35D05C4D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38425"/>
            <a:ext cx="30289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점수가 조금 올라도 호출량·시간·비용이 크게 늘면 실제 이득인지 알 수 없다.</a:t>
            </a:r>
          </a:p>
        </p:txBody>
      </p:sp>
      <p:sp>
        <p:nvSpPr>
          <p:cNvPr id="13" name="text-0dmdu3">
            <a:extLst xmlns:a="http://schemas.openxmlformats.org/drawingml/2006/main">
              <a:ext uri="{FF2B5EF4-FFF2-40B4-BE49-F238E27FC236}">
                <a16:creationId xmlns:a16="http://schemas.microsoft.com/office/drawing/2014/main" id="{9419615C-FDD9-4739-AC58-502FB59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 기준이 시스템 안에 있으면, 시스템을 바꿀수록 비교가 불공정해진다.</a:t>
            </a:r>
          </a:p>
        </p:txBody>
      </p:sp>
    </p:spTree>
    <p:extLst>
      <p:ext uri="{BB962C8B-B14F-4D97-AF65-F5344CB8AC3E}">
        <p14:creationId xmlns:p14="http://schemas.microsoft.com/office/powerpoint/2010/main" val="896843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5">
            <a:extLst xmlns:a="http://schemas.openxmlformats.org/drawingml/2006/main">
              <a:ext uri="{FF2B5EF4-FFF2-40B4-BE49-F238E27FC236}">
                <a16:creationId xmlns:a16="http://schemas.microsoft.com/office/drawing/2014/main" id="{CAC5ACCE-AD0D-4CB6-9703-6A3E707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D7920CF-47C1-4502-806F-87715B85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그래서 평가의 중심을 ‘도구’에서 ‘문제’로 옮겼다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158DD7B1-E26B-4C2E-BC3C-8249454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box-tapbit">
            <a:extLst xmlns:a="http://schemas.openxmlformats.org/drawingml/2006/main">
              <a:ext uri="{FF2B5EF4-FFF2-40B4-BE49-F238E27FC236}">
                <a16:creationId xmlns:a16="http://schemas.microsoft.com/office/drawing/2014/main" id="{DE7BEED3-0518-4059-8CC1-0F56BD28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bnovyx">
            <a:extLst xmlns:a="http://schemas.openxmlformats.org/drawingml/2006/main">
              <a:ext uri="{FF2B5EF4-FFF2-40B4-BE49-F238E27FC236}">
                <a16:creationId xmlns:a16="http://schemas.microsoft.com/office/drawing/2014/main" id="{6217C2F3-033C-4169-8328-CCD753F8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이전 질문</a:t>
            </a:r>
          </a:p>
        </p:txBody>
      </p:sp>
      <p:sp>
        <p:nvSpPr>
          <p:cNvPr id="6" name="text-5omj1g">
            <a:extLst xmlns:a="http://schemas.openxmlformats.org/drawingml/2006/main">
              <a:ext uri="{FF2B5EF4-FFF2-40B4-BE49-F238E27FC236}">
                <a16:creationId xmlns:a16="http://schemas.microsoft.com/office/drawing/2014/main" id="{125221F1-8325-4803-8AD1-30E0BFA3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43053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어떤 검색 도구를 썼는가?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예상한 순서로 움직였는가?</a:t>
            </a:r>
          </a:p>
        </p:txBody>
      </p:sp>
      <p:sp>
        <p:nvSpPr>
          <p:cNvPr id="7" name="box-mz4qet">
            <a:extLst xmlns:a="http://schemas.openxmlformats.org/drawingml/2006/main">
              <a:ext uri="{FF2B5EF4-FFF2-40B4-BE49-F238E27FC236}">
                <a16:creationId xmlns:a16="http://schemas.microsoft.com/office/drawing/2014/main" id="{CFAF67D9-ABC4-4F4A-9316-C7B6231E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2v9kp">
            <a:extLst xmlns:a="http://schemas.openxmlformats.org/drawingml/2006/main">
              <a:ext uri="{FF2B5EF4-FFF2-40B4-BE49-F238E27FC236}">
                <a16:creationId xmlns:a16="http://schemas.microsoft.com/office/drawing/2014/main" id="{97AFEA7D-E4B8-49E9-89E5-26DBD61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5742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새 질문</a:t>
            </a:r>
          </a:p>
        </p:txBody>
      </p:sp>
      <p:sp>
        <p:nvSpPr>
          <p:cNvPr id="9" name="text-fh43uv">
            <a:extLst xmlns:a="http://schemas.openxmlformats.org/drawingml/2006/main">
              <a:ext uri="{FF2B5EF4-FFF2-40B4-BE49-F238E27FC236}">
                <a16:creationId xmlns:a16="http://schemas.microsoft.com/office/drawing/2014/main" id="{703C340A-9C50-48F7-82A1-C773688E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33675"/>
            <a:ext cx="43053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사용자가 물어본 문제를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제대로 해결했는가?</a:t>
            </a:r>
          </a:p>
        </p:txBody>
      </p:sp>
      <p:sp>
        <p:nvSpPr>
          <p:cNvPr id="10" name="text-a70q5r">
            <a:extLst xmlns:a="http://schemas.openxmlformats.org/drawingml/2006/main">
              <a:ext uri="{FF2B5EF4-FFF2-40B4-BE49-F238E27FC236}">
                <a16:creationId xmlns:a16="http://schemas.microsoft.com/office/drawing/2014/main" id="{730BEA7E-BB3E-421A-B222-97AA4ED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문제와 성공 기준은 고정하고, 푸는 방법은 자유롭게 바꾼다.</a:t>
            </a:r>
          </a:p>
        </p:txBody>
      </p:sp>
    </p:spTree>
    <p:extLst>
      <p:ext uri="{BB962C8B-B14F-4D97-AF65-F5344CB8AC3E}">
        <p14:creationId xmlns:p14="http://schemas.microsoft.com/office/powerpoint/2010/main" val="2088201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6">
            <a:extLst xmlns:a="http://schemas.openxmlformats.org/drawingml/2006/main">
              <a:ext uri="{FF2B5EF4-FFF2-40B4-BE49-F238E27FC236}">
                <a16:creationId xmlns:a16="http://schemas.microsoft.com/office/drawing/2014/main" id="{F6A8A7A4-B3B7-495A-9033-3A06DD4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9B9A52E-70EF-4499-A220-4DBC1213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하나로 섞여 있던 데이터를 세 부분으로 나눴다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196D803-4337-470F-B7A9-8C8F9F1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box-1ardeg">
            <a:extLst xmlns:a="http://schemas.openxmlformats.org/drawingml/2006/main">
              <a:ext uri="{FF2B5EF4-FFF2-40B4-BE49-F238E27FC236}">
                <a16:creationId xmlns:a16="http://schemas.microsoft.com/office/drawing/2014/main" id="{9278A8D9-99F8-4FDD-A3F0-42E70F3E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y5mdkg">
            <a:extLst xmlns:a="http://schemas.openxmlformats.org/drawingml/2006/main">
              <a:ext uri="{FF2B5EF4-FFF2-40B4-BE49-F238E27FC236}">
                <a16:creationId xmlns:a16="http://schemas.microsoft.com/office/drawing/2014/main" id="{D857DCB9-011D-4772-8F1B-82BD645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1. 사용자 문제</a:t>
            </a:r>
          </a:p>
        </p:txBody>
      </p:sp>
      <p:sp>
        <p:nvSpPr>
          <p:cNvPr id="6" name="text-phn406">
            <a:extLst xmlns:a="http://schemas.openxmlformats.org/drawingml/2006/main">
              <a:ext uri="{FF2B5EF4-FFF2-40B4-BE49-F238E27FC236}">
                <a16:creationId xmlns:a16="http://schemas.microsoft.com/office/drawing/2014/main" id="{2234B233-D33F-4901-A54D-2A31A294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26860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무엇을 물어보는가?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예: 왜 예산을 줄였어?</a:t>
            </a:r>
          </a:p>
        </p:txBody>
      </p:sp>
      <p:sp>
        <p:nvSpPr>
          <p:cNvPr id="7" name="box-lbdhnm">
            <a:extLst xmlns:a="http://schemas.openxmlformats.org/drawingml/2006/main">
              <a:ext uri="{FF2B5EF4-FFF2-40B4-BE49-F238E27FC236}">
                <a16:creationId xmlns:a16="http://schemas.microsoft.com/office/drawing/2014/main" id="{230C82A4-D033-4284-95BC-6DCA25B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jh6a23">
            <a:extLst xmlns:a="http://schemas.openxmlformats.org/drawingml/2006/main">
              <a:ext uri="{FF2B5EF4-FFF2-40B4-BE49-F238E27FC236}">
                <a16:creationId xmlns:a16="http://schemas.microsoft.com/office/drawing/2014/main" id="{11B6C67B-9965-4C97-891D-2B82C22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95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2. 성공 기준</a:t>
            </a:r>
          </a:p>
        </p:txBody>
      </p:sp>
      <p:sp>
        <p:nvSpPr>
          <p:cNvPr id="9" name="text-iqacxz">
            <a:extLst xmlns:a="http://schemas.openxmlformats.org/drawingml/2006/main">
              <a:ext uri="{FF2B5EF4-FFF2-40B4-BE49-F238E27FC236}">
                <a16:creationId xmlns:a16="http://schemas.microsoft.com/office/drawing/2014/main" id="{85E33159-3937-4B5F-981D-DBD3A20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71800"/>
            <a:ext cx="26860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어떤 내용을 답해야 성공인가?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원인·조치·추측 금지</a:t>
            </a:r>
          </a:p>
        </p:txBody>
      </p:sp>
      <p:sp>
        <p:nvSpPr>
          <p:cNvPr id="10" name="box-uthljc">
            <a:extLst xmlns:a="http://schemas.openxmlformats.org/drawingml/2006/main">
              <a:ext uri="{FF2B5EF4-FFF2-40B4-BE49-F238E27FC236}">
                <a16:creationId xmlns:a16="http://schemas.microsoft.com/office/drawing/2014/main" id="{3F49D5CB-434E-4846-A2EE-2462D814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e0o74">
            <a:extLst xmlns:a="http://schemas.openxmlformats.org/drawingml/2006/main">
              <a:ext uri="{FF2B5EF4-FFF2-40B4-BE49-F238E27FC236}">
                <a16:creationId xmlns:a16="http://schemas.microsoft.com/office/drawing/2014/main" id="{8091B090-6E6A-4240-8C56-19A42B06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3. 실행 결과</a:t>
            </a:r>
          </a:p>
        </p:txBody>
      </p:sp>
      <p:sp>
        <p:nvSpPr>
          <p:cNvPr id="12" name="text-vu27nv">
            <a:extLst xmlns:a="http://schemas.openxmlformats.org/drawingml/2006/main">
              <a:ext uri="{FF2B5EF4-FFF2-40B4-BE49-F238E27FC236}">
                <a16:creationId xmlns:a16="http://schemas.microsoft.com/office/drawing/2014/main" id="{49CF7F10-A8F7-46C7-A6B6-2E8D791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71800"/>
            <a:ext cx="26860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이번 시스템은 무엇을 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답·근거·도구·비용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43300" y="35718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35718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5" name="text-744oxy">
            <a:extLst xmlns:a="http://schemas.openxmlformats.org/drawingml/2006/main">
              <a:ext uri="{FF2B5EF4-FFF2-40B4-BE49-F238E27FC236}">
                <a16:creationId xmlns:a16="http://schemas.microsoft.com/office/drawing/2014/main" id="{BD180008-1212-48D5-AFDE-B4DAD1A4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문제와 성공 기준을 두고, 실행 결과만 시스템별로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6236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10D9C2B0-6084-4046-A43A-E61EDD9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8AF07FF-CD67-4153-851C-3E855D6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평가할 때는 네 가지 질문을 따로 본다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41113D69-909B-4A34-8759-5C293BC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box-jnc8px">
            <a:extLst xmlns:a="http://schemas.openxmlformats.org/drawingml/2006/main">
              <a:ext uri="{FF2B5EF4-FFF2-40B4-BE49-F238E27FC236}">
                <a16:creationId xmlns:a16="http://schemas.microsoft.com/office/drawing/2014/main" id="{05229B2E-6777-476C-9DE6-7E5A0BE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29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ra6coy">
            <a:extLst xmlns:a="http://schemas.openxmlformats.org/drawingml/2006/main">
              <a:ext uri="{FF2B5EF4-FFF2-40B4-BE49-F238E27FC236}">
                <a16:creationId xmlns:a16="http://schemas.microsoft.com/office/drawing/2014/main" id="{C777E351-B75B-4B59-A2A6-5F049FF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어떤 문제였나?</a:t>
            </a:r>
          </a:p>
        </p:txBody>
      </p:sp>
      <p:sp>
        <p:nvSpPr>
          <p:cNvPr id="6" name="text-hurz0b">
            <a:extLst xmlns:a="http://schemas.openxmlformats.org/drawingml/2006/main">
              <a:ext uri="{FF2B5EF4-FFF2-40B4-BE49-F238E27FC236}">
                <a16:creationId xmlns:a16="http://schemas.microsoft.com/office/drawing/2014/main" id="{83F2EE38-484C-498C-B22A-DD4C091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4972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비교인지, 조회인지, 여러 자료가 필요한지</a:t>
            </a:r>
          </a:p>
        </p:txBody>
      </p:sp>
      <p:sp>
        <p:nvSpPr>
          <p:cNvPr id="7" name="box-mkajrv">
            <a:extLst xmlns:a="http://schemas.openxmlformats.org/drawingml/2006/main">
              <a:ext uri="{FF2B5EF4-FFF2-40B4-BE49-F238E27FC236}">
                <a16:creationId xmlns:a16="http://schemas.microsoft.com/office/drawing/2014/main" id="{64814447-D6AD-4D07-B76C-BAECE60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429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gbc8i">
            <a:extLst xmlns:a="http://schemas.openxmlformats.org/drawingml/2006/main">
              <a:ext uri="{FF2B5EF4-FFF2-40B4-BE49-F238E27FC236}">
                <a16:creationId xmlns:a16="http://schemas.microsoft.com/office/drawing/2014/main" id="{D7B2C4F3-8000-4C36-A09D-2245467F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답을 제대로 했나?</a:t>
            </a:r>
          </a:p>
        </p:txBody>
      </p:sp>
      <p:sp>
        <p:nvSpPr>
          <p:cNvPr id="9" name="text-v9b4l5">
            <a:extLst xmlns:a="http://schemas.openxmlformats.org/drawingml/2006/main">
              <a:ext uri="{FF2B5EF4-FFF2-40B4-BE49-F238E27FC236}">
                <a16:creationId xmlns:a16="http://schemas.microsoft.com/office/drawing/2014/main" id="{CC44BA0C-F226-4195-AABA-F01E5C6D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38425"/>
            <a:ext cx="4972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내용과 근거가 있는지</a:t>
            </a:r>
          </a:p>
        </p:txBody>
      </p:sp>
      <p:sp>
        <p:nvSpPr>
          <p:cNvPr id="10" name="box-czt8py">
            <a:extLst xmlns:a="http://schemas.openxmlformats.org/drawingml/2006/main">
              <a:ext uri="{FF2B5EF4-FFF2-40B4-BE49-F238E27FC236}">
                <a16:creationId xmlns:a16="http://schemas.microsoft.com/office/drawing/2014/main" id="{FB78A434-944D-4D75-8847-1184D9FD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i6rgac">
            <a:extLst xmlns:a="http://schemas.openxmlformats.org/drawingml/2006/main">
              <a:ext uri="{FF2B5EF4-FFF2-40B4-BE49-F238E27FC236}">
                <a16:creationId xmlns:a16="http://schemas.microsoft.com/office/drawing/2014/main" id="{997B26ED-61B8-4F02-A68A-2511C5E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어떻게 풀었나?</a:t>
            </a:r>
          </a:p>
        </p:txBody>
      </p:sp>
      <p:sp>
        <p:nvSpPr>
          <p:cNvPr id="12" name="text-u7n7um">
            <a:extLst xmlns:a="http://schemas.openxmlformats.org/drawingml/2006/main">
              <a:ext uri="{FF2B5EF4-FFF2-40B4-BE49-F238E27FC236}">
                <a16:creationId xmlns:a16="http://schemas.microsoft.com/office/drawing/2014/main" id="{B4AE71C8-D140-4A22-A039-3C9C6D0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4972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검색·재시도·실패 회복 과정</a:t>
            </a:r>
          </a:p>
        </p:txBody>
      </p:sp>
      <p:sp>
        <p:nvSpPr>
          <p:cNvPr id="13" name="box-gkhgbp">
            <a:extLst xmlns:a="http://schemas.openxmlformats.org/drawingml/2006/main">
              <a:ext uri="{FF2B5EF4-FFF2-40B4-BE49-F238E27FC236}">
                <a16:creationId xmlns:a16="http://schemas.microsoft.com/office/drawing/2014/main" id="{E075A672-ABCB-467E-9FE2-102FD2A2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429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nqobb">
            <a:extLst xmlns:a="http://schemas.openxmlformats.org/drawingml/2006/main">
              <a:ext uri="{FF2B5EF4-FFF2-40B4-BE49-F238E27FC236}">
                <a16:creationId xmlns:a16="http://schemas.microsoft.com/office/drawing/2014/main" id="{B5C99CC7-D6B6-4A84-AF3F-FC13BE54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얼마나 들었나?</a:t>
            </a:r>
          </a:p>
        </p:txBody>
      </p:sp>
      <p:sp>
        <p:nvSpPr>
          <p:cNvPr id="15" name="text-6pnloo">
            <a:extLst xmlns:a="http://schemas.openxmlformats.org/drawingml/2006/main">
              <a:ext uri="{FF2B5EF4-FFF2-40B4-BE49-F238E27FC236}">
                <a16:creationId xmlns:a16="http://schemas.microsoft.com/office/drawing/2014/main" id="{0800F5CA-A0B4-4645-A898-B5BCC2DA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48175"/>
            <a:ext cx="4972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시간·호출·사용량·비용</a:t>
            </a:r>
          </a:p>
        </p:txBody>
      </p:sp>
      <p:sp>
        <p:nvSpPr>
          <p:cNvPr id="16" name="text-5f1z4r">
            <a:extLst xmlns:a="http://schemas.openxmlformats.org/drawingml/2006/main">
              <a:ext uri="{FF2B5EF4-FFF2-40B4-BE49-F238E27FC236}">
                <a16:creationId xmlns:a16="http://schemas.microsoft.com/office/drawing/2014/main" id="{FC1B3A93-7233-4474-9587-9614164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좋은 과정이 틀린 답을 정당화하지 않고, 비싼 정답도 싼 정답과 같지 않다.</a:t>
            </a:r>
          </a:p>
        </p:txBody>
      </p:sp>
    </p:spTree>
    <p:extLst>
      <p:ext uri="{BB962C8B-B14F-4D97-AF65-F5344CB8AC3E}">
        <p14:creationId xmlns:p14="http://schemas.microsoft.com/office/powerpoint/2010/main" val="793904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8">
            <a:extLst xmlns:a="http://schemas.openxmlformats.org/drawingml/2006/main">
              <a:ext uri="{FF2B5EF4-FFF2-40B4-BE49-F238E27FC236}">
                <a16:creationId xmlns:a16="http://schemas.microsoft.com/office/drawing/2014/main" id="{6D46928B-A276-4BD0-96AC-017CC289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5C33675-AC79-487B-8451-BBF0763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 데이터는 ‘푸는 방법’이 아니라 ‘풀 문제’를 적는다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44C21E08-1380-43F8-940E-A994EE43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text-aiee2r">
            <a:extLst xmlns:a="http://schemas.openxmlformats.org/drawingml/2006/main">
              <a:ext uri="{FF2B5EF4-FFF2-40B4-BE49-F238E27FC236}">
                <a16:creationId xmlns:a16="http://schemas.microsoft.com/office/drawing/2014/main" id="{23695C33-AE17-4B85-B727-DE1C05B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들어가는 것</a:t>
            </a:r>
          </a:p>
        </p:txBody>
      </p:sp>
      <p:sp>
        <p:nvSpPr>
          <p:cNvPr id="5" name="text-clv5yw">
            <a:extLst xmlns:a="http://schemas.openxmlformats.org/drawingml/2006/main">
              <a:ext uri="{FF2B5EF4-FFF2-40B4-BE49-F238E27FC236}">
                <a16:creationId xmlns:a16="http://schemas.microsoft.com/office/drawing/2014/main" id="{368C97A3-6B6F-48EB-8C03-EC8FDEB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들어가지 않는 것</a:t>
            </a:r>
          </a:p>
        </p:txBody>
      </p:sp>
      <p:cxnSp>
        <p:nvCxnSpPr>
          <p:cNvPr id="15" name="rule-3f0k0v"/>
          <p:cNvCxnSpPr/>
          <p:nvPr/>
        </p:nvCxnSpPr>
        <p:spPr>
          <a:xfrm xmlns:a="http://schemas.openxmlformats.org/drawingml/2006/main">
            <a:off x="666750" y="2524125"/>
            <a:ext cx="4286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16" name="rule-05me9o"/>
          <p:cNvCxnSpPr/>
          <p:nvPr/>
        </p:nvCxnSpPr>
        <p:spPr>
          <a:xfrm xmlns:a="http://schemas.openxmlformats.org/drawingml/2006/main">
            <a:off x="6667500" y="2524125"/>
            <a:ext cx="4286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sp>
        <p:nvSpPr>
          <p:cNvPr id="8" name="text-4fh546">
            <a:extLst xmlns:a="http://schemas.openxmlformats.org/drawingml/2006/main">
              <a:ext uri="{FF2B5EF4-FFF2-40B4-BE49-F238E27FC236}">
                <a16:creationId xmlns:a16="http://schemas.microsoft.com/office/drawing/2014/main" id="{2B69B388-C72E-4A71-B7F3-C9FB1F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사용자 질문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답해야 할 내용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함께 주어진 상황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확인된 관련 근거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답할 수 있는지 여부</a:t>
            </a:r>
          </a:p>
        </p:txBody>
      </p:sp>
      <p:sp>
        <p:nvSpPr>
          <p:cNvPr id="9" name="text-tu7lrh">
            <a:extLst xmlns:a="http://schemas.openxmlformats.org/drawingml/2006/main">
              <a:ext uri="{FF2B5EF4-FFF2-40B4-BE49-F238E27FC236}">
                <a16:creationId xmlns:a16="http://schemas.microsoft.com/office/drawing/2014/main" id="{DCACBAFD-774D-4800-B36A-AD25EF9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반드시 쓸 검색 도구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반드시 따를 검색 순서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색인과 임베딩 설정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그래프 구성 방식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에이전트 내부 구현</a:t>
            </a:r>
          </a:p>
        </p:txBody>
      </p:sp>
    </p:spTree>
    <p:extLst>
      <p:ext uri="{BB962C8B-B14F-4D97-AF65-F5344CB8AC3E}">
        <p14:creationId xmlns:p14="http://schemas.microsoft.com/office/powerpoint/2010/main" val="1405040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9">
            <a:extLst xmlns:a="http://schemas.openxmlformats.org/drawingml/2006/main">
              <a:ext uri="{FF2B5EF4-FFF2-40B4-BE49-F238E27FC236}">
                <a16:creationId xmlns:a16="http://schemas.microsoft.com/office/drawing/2014/main" id="{7EB5D51E-ABD6-400F-95F6-28C7563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30860B4-8C6D-4ABA-A18D-E22F29C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정답 목록에 없다는 이유만으로 틀린 근거는 아니다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10118C8A-4A1A-4329-A9C2-01DB64E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box-oyz670">
            <a:extLst xmlns:a="http://schemas.openxmlformats.org/drawingml/2006/main">
              <a:ext uri="{FF2B5EF4-FFF2-40B4-BE49-F238E27FC236}">
                <a16:creationId xmlns:a16="http://schemas.microsoft.com/office/drawing/2014/main" id="{E77B85B3-7876-40EE-9234-A9826FE2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8vuql8">
            <a:extLst xmlns:a="http://schemas.openxmlformats.org/drawingml/2006/main">
              <a:ext uri="{FF2B5EF4-FFF2-40B4-BE49-F238E27FC236}">
                <a16:creationId xmlns:a16="http://schemas.microsoft.com/office/drawing/2014/main" id="{AEF2611E-A186-44A2-BBBF-DE43EFFE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있음</a:t>
            </a:r>
          </a:p>
        </p:txBody>
      </p:sp>
      <p:sp>
        <p:nvSpPr>
          <p:cNvPr id="6" name="text-9zwrb4">
            <a:extLst xmlns:a="http://schemas.openxmlformats.org/drawingml/2006/main">
              <a:ext uri="{FF2B5EF4-FFF2-40B4-BE49-F238E27FC236}">
                <a16:creationId xmlns:a16="http://schemas.microsoft.com/office/drawing/2014/main" id="{80688105-7FDE-4864-BB9E-6584FD64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있다고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확인한 근거</a:t>
            </a:r>
          </a:p>
        </p:txBody>
      </p:sp>
      <p:sp>
        <p:nvSpPr>
          <p:cNvPr id="7" name="box-nqhwp6">
            <a:extLst xmlns:a="http://schemas.openxmlformats.org/drawingml/2006/main">
              <a:ext uri="{FF2B5EF4-FFF2-40B4-BE49-F238E27FC236}">
                <a16:creationId xmlns:a16="http://schemas.microsoft.com/office/drawing/2014/main" id="{6F76B3EF-95C0-4117-A6EE-0D7D123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zffu3">
            <a:extLst xmlns:a="http://schemas.openxmlformats.org/drawingml/2006/main">
              <a:ext uri="{FF2B5EF4-FFF2-40B4-BE49-F238E27FC236}">
                <a16:creationId xmlns:a16="http://schemas.microsoft.com/office/drawing/2014/main" id="{40037104-9C4C-4490-B02F-B1350AAD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없음</a:t>
            </a:r>
          </a:p>
        </p:txBody>
      </p:sp>
      <p:sp>
        <p:nvSpPr>
          <p:cNvPr id="9" name="text-rt5ook">
            <a:extLst xmlns:a="http://schemas.openxmlformats.org/drawingml/2006/main">
              <a:ext uri="{FF2B5EF4-FFF2-40B4-BE49-F238E27FC236}">
                <a16:creationId xmlns:a16="http://schemas.microsoft.com/office/drawing/2014/main" id="{39179B8F-7285-475C-BA76-A8B7576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670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관련 없다고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확인한 근거</a:t>
            </a:r>
          </a:p>
        </p:txBody>
      </p:sp>
      <p:sp>
        <p:nvSpPr>
          <p:cNvPr id="10" name="box-eegcxu">
            <a:extLst xmlns:a="http://schemas.openxmlformats.org/drawingml/2006/main">
              <a:ext uri="{FF2B5EF4-FFF2-40B4-BE49-F238E27FC236}">
                <a16:creationId xmlns:a16="http://schemas.microsoft.com/office/drawing/2014/main" id="{FDF16864-10A6-4D6C-8279-C77BFBB9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z2f8k">
            <a:extLst xmlns:a="http://schemas.openxmlformats.org/drawingml/2006/main">
              <a:ext uri="{FF2B5EF4-FFF2-40B4-BE49-F238E27FC236}">
                <a16:creationId xmlns:a16="http://schemas.microsoft.com/office/drawing/2014/main" id="{799560E3-8F6C-46A2-AECD-8A1C3455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아직 모름</a:t>
            </a:r>
          </a:p>
        </p:txBody>
      </p:sp>
      <p:sp>
        <p:nvSpPr>
          <p:cNvPr id="12" name="text-hipady">
            <a:extLst xmlns:a="http://schemas.openxmlformats.org/drawingml/2006/main">
              <a:ext uri="{FF2B5EF4-FFF2-40B4-BE49-F238E27FC236}">
                <a16:creationId xmlns:a16="http://schemas.microsoft.com/office/drawing/2014/main" id="{CA692A3B-8CC5-4234-9B25-BC3D949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아직 판단하지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않은 근거</a:t>
            </a:r>
          </a:p>
        </p:txBody>
      </p:sp>
      <p:sp>
        <p:nvSpPr>
          <p:cNvPr id="13" name="text-7e2uqw">
            <a:extLst xmlns:a="http://schemas.openxmlformats.org/drawingml/2006/main">
              <a:ext uri="{FF2B5EF4-FFF2-40B4-BE49-F238E27FC236}">
                <a16:creationId xmlns:a16="http://schemas.microsoft.com/office/drawing/2014/main" id="{A807D636-40F3-42A3-91B7-5DCE355C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검색기가 기존 목록에 없던 더 좋은 문서를 찾을 가능성을 열어 둔다.</a:t>
            </a:r>
          </a:p>
        </p:txBody>
      </p:sp>
    </p:spTree>
    <p:extLst>
      <p:ext uri="{BB962C8B-B14F-4D97-AF65-F5344CB8AC3E}">
        <p14:creationId xmlns:p14="http://schemas.microsoft.com/office/powerpoint/2010/main" val="1730663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0">
            <a:extLst xmlns:a="http://schemas.openxmlformats.org/drawingml/2006/main">
              <a:ext uri="{FF2B5EF4-FFF2-40B4-BE49-F238E27FC236}">
                <a16:creationId xmlns:a16="http://schemas.microsoft.com/office/drawing/2014/main" id="{209CBEA1-23D3-419F-A568-07EBE74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8A94BA9-0229-426C-BE37-69F84F1C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 채점기는 실행 전과 실행 후에 서로 다른 일을 한다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50898B70-E7E3-4E80-AB72-139065D9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box-1dpwl1">
            <a:extLst xmlns:a="http://schemas.openxmlformats.org/drawingml/2006/main">
              <a:ext uri="{FF2B5EF4-FFF2-40B4-BE49-F238E27FC236}">
                <a16:creationId xmlns:a16="http://schemas.microsoft.com/office/drawing/2014/main" id="{8869D3A5-D4B2-46B8-BF95-AE88B8A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q1yv27">
            <a:extLst xmlns:a="http://schemas.openxmlformats.org/drawingml/2006/main">
              <a:ext uri="{FF2B5EF4-FFF2-40B4-BE49-F238E27FC236}">
                <a16:creationId xmlns:a16="http://schemas.microsoft.com/office/drawing/2014/main" id="{3FD1146B-5F56-4B82-8279-F5D4C0C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전: 기준 검사</a:t>
            </a:r>
          </a:p>
        </p:txBody>
      </p:sp>
      <p:sp>
        <p:nvSpPr>
          <p:cNvPr id="6" name="text-5tpr9m">
            <a:extLst xmlns:a="http://schemas.openxmlformats.org/drawingml/2006/main">
              <a:ext uri="{FF2B5EF4-FFF2-40B4-BE49-F238E27FC236}">
                <a16:creationId xmlns:a16="http://schemas.microsoft.com/office/drawing/2014/main" id="{4DF51BE1-CF17-4E61-BE0B-ED4EC41D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3053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사용자 질문과 성공 기준이 맞는가?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내용이 실제 근거에 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두 번 검사해 둘 다 동의해야 통과</a:t>
            </a:r>
          </a:p>
        </p:txBody>
      </p:sp>
      <p:sp>
        <p:nvSpPr>
          <p:cNvPr id="7" name="box-hbd66b">
            <a:extLst xmlns:a="http://schemas.openxmlformats.org/drawingml/2006/main">
              <a:ext uri="{FF2B5EF4-FFF2-40B4-BE49-F238E27FC236}">
                <a16:creationId xmlns:a16="http://schemas.microsoft.com/office/drawing/2014/main" id="{B4E71FF4-F297-4E92-A8D7-1BD319A9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p7k6kz">
            <a:extLst xmlns:a="http://schemas.openxmlformats.org/drawingml/2006/main">
              <a:ext uri="{FF2B5EF4-FFF2-40B4-BE49-F238E27FC236}">
                <a16:creationId xmlns:a16="http://schemas.microsoft.com/office/drawing/2014/main" id="{CBCBBF65-140A-4E08-B470-98AFC73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후: 답 검사</a:t>
            </a:r>
          </a:p>
        </p:txBody>
      </p:sp>
      <p:sp>
        <p:nvSpPr>
          <p:cNvPr id="9" name="text-5zv948">
            <a:extLst xmlns:a="http://schemas.openxmlformats.org/drawingml/2006/main">
              <a:ext uri="{FF2B5EF4-FFF2-40B4-BE49-F238E27FC236}">
                <a16:creationId xmlns:a16="http://schemas.microsoft.com/office/drawing/2014/main" id="{C7B172B2-3D29-4A46-9455-483A181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43053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내용을 답했는가?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답의 주장을 실제 근거가 뒷받침하는가?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답해야 할 때 답하고 멈출 때 멈췄는가?</a:t>
            </a:r>
          </a:p>
        </p:txBody>
      </p:sp>
      <p:sp>
        <p:nvSpPr>
          <p:cNvPr id="10" name="text-84tsyk">
            <a:extLst xmlns:a="http://schemas.openxmlformats.org/drawingml/2006/main">
              <a:ext uri="{FF2B5EF4-FFF2-40B4-BE49-F238E27FC236}">
                <a16:creationId xmlns:a16="http://schemas.microsoft.com/office/drawing/2014/main" id="{83563BE0-43BB-4483-945E-4F890D8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먼저 시험 기준을 검사하고, 그다음 시스템의 답을 검사한다.</a:t>
            </a:r>
          </a:p>
        </p:txBody>
      </p:sp>
    </p:spTree>
    <p:extLst>
      <p:ext uri="{BB962C8B-B14F-4D97-AF65-F5344CB8AC3E}">
        <p14:creationId xmlns:p14="http://schemas.microsoft.com/office/powerpoint/2010/main" val="15354687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1">
            <a:extLst xmlns:a="http://schemas.openxmlformats.org/drawingml/2006/main">
              <a:ext uri="{FF2B5EF4-FFF2-40B4-BE49-F238E27FC236}">
                <a16:creationId xmlns:a16="http://schemas.microsoft.com/office/drawing/2014/main" id="{FB848DA6-6030-4F55-8DFE-387FCAC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CB397EA-FE6E-4768-B09B-2A9C253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AI는 세부 항목을 판단하고, 코드는 최종 결과를 계산한다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5F28574E-8548-4480-B219-A931277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box-sob8u4">
            <a:extLst xmlns:a="http://schemas.openxmlformats.org/drawingml/2006/main">
              <a:ext uri="{FF2B5EF4-FFF2-40B4-BE49-F238E27FC236}">
                <a16:creationId xmlns:a16="http://schemas.microsoft.com/office/drawing/2014/main" id="{D0E6CF36-3849-4628-9F95-40BFD9E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810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o17cr">
            <a:extLst xmlns:a="http://schemas.openxmlformats.org/drawingml/2006/main">
              <a:ext uri="{FF2B5EF4-FFF2-40B4-BE49-F238E27FC236}">
                <a16:creationId xmlns:a16="http://schemas.microsoft.com/office/drawing/2014/main" id="{271BC095-A2DA-400A-BA65-153E079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AI가 판단</a:t>
            </a:r>
          </a:p>
        </p:txBody>
      </p:sp>
      <p:sp>
        <p:nvSpPr>
          <p:cNvPr id="6" name="text-54iznv">
            <a:extLst xmlns:a="http://schemas.openxmlformats.org/drawingml/2006/main">
              <a:ext uri="{FF2B5EF4-FFF2-40B4-BE49-F238E27FC236}">
                <a16:creationId xmlns:a16="http://schemas.microsoft.com/office/drawing/2014/main" id="{EB41331C-86A3-49ED-9F82-9A8F0B5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35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필요한 사실이 답에 있는가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주장이 근거로 뒷받침되는가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답변 행동이 적절한가</a:t>
            </a:r>
          </a:p>
        </p:txBody>
      </p:sp>
      <p:sp>
        <p:nvSpPr>
          <p:cNvPr id="7" name="box-qfcf6g">
            <a:extLst xmlns:a="http://schemas.openxmlformats.org/drawingml/2006/main">
              <a:ext uri="{FF2B5EF4-FFF2-40B4-BE49-F238E27FC236}">
                <a16:creationId xmlns:a16="http://schemas.microsoft.com/office/drawing/2014/main" id="{F099638D-DC0C-43C3-BE9E-3D3B3C05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810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2s8gl">
            <a:extLst xmlns:a="http://schemas.openxmlformats.org/drawingml/2006/main">
              <a:ext uri="{FF2B5EF4-FFF2-40B4-BE49-F238E27FC236}">
                <a16:creationId xmlns:a16="http://schemas.microsoft.com/office/drawing/2014/main" id="{65A6FA69-32B9-4D81-9FD2-016CF341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코드가 계산</a:t>
            </a:r>
          </a:p>
        </p:txBody>
      </p:sp>
      <p:sp>
        <p:nvSpPr>
          <p:cNvPr id="9" name="text-wtugr6">
            <a:extLst xmlns:a="http://schemas.openxmlformats.org/drawingml/2006/main">
              <a:ext uri="{FF2B5EF4-FFF2-40B4-BE49-F238E27FC236}">
                <a16:creationId xmlns:a16="http://schemas.microsoft.com/office/drawing/2014/main" id="{C20A3EEF-42A4-4B60-9D20-8A6E211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335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사실 포함 비율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근거가 있는 주장 비율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최종 성공 또는 실패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72000" y="36195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1" name="text-yrbqda">
            <a:extLst xmlns:a="http://schemas.openxmlformats.org/drawingml/2006/main">
              <a:ext uri="{FF2B5EF4-FFF2-40B4-BE49-F238E27FC236}">
                <a16:creationId xmlns:a16="http://schemas.microsoft.com/office/drawing/2014/main" id="{4041FC3F-7217-4B48-8216-035AF5F6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성공의 의미는 AI의 기분이 아니라 버전으로 관리되는 규칙에 남는다.</a:t>
            </a:r>
          </a:p>
        </p:txBody>
      </p:sp>
    </p:spTree>
    <p:extLst>
      <p:ext uri="{BB962C8B-B14F-4D97-AF65-F5344CB8AC3E}">
        <p14:creationId xmlns:p14="http://schemas.microsoft.com/office/powerpoint/2010/main" val="1211823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2">
            <a:extLst xmlns:a="http://schemas.openxmlformats.org/drawingml/2006/main">
              <a:ext uri="{FF2B5EF4-FFF2-40B4-BE49-F238E27FC236}">
                <a16:creationId xmlns:a16="http://schemas.microsoft.com/office/drawing/2014/main" id="{C569CA21-8CB8-43E7-BC2D-7095E8D5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7BB9074-63BD-4133-AB49-E3FC7D2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기존 150개 문제를 검사하자, 믿을 수 있는 범위가 갈렸다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9B8E6E56-F505-4D05-AB54-7BA4C5C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text-7ipzmw">
            <a:extLst xmlns:a="http://schemas.openxmlformats.org/drawingml/2006/main">
              <a:ext uri="{FF2B5EF4-FFF2-40B4-BE49-F238E27FC236}">
                <a16:creationId xmlns:a16="http://schemas.microsoft.com/office/drawing/2014/main" id="{AEABF14C-74A0-4000-81B1-F8ED452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5" name="text-7ix39t">
            <a:extLst xmlns:a="http://schemas.openxmlformats.org/drawingml/2006/main">
              <a:ext uri="{FF2B5EF4-FFF2-40B4-BE49-F238E27FC236}">
                <a16:creationId xmlns:a16="http://schemas.microsoft.com/office/drawing/2014/main" id="{63907400-9FF3-4DFC-A8E3-9E76EFC3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text-s44wto">
            <a:extLst xmlns:a="http://schemas.openxmlformats.org/drawingml/2006/main">
              <a:ext uri="{FF2B5EF4-FFF2-40B4-BE49-F238E27FC236}">
                <a16:creationId xmlns:a16="http://schemas.microsoft.com/office/drawing/2014/main" id="{82D60483-0C1C-4A09-AB44-DE3B4DED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7" name="text-xvz1ve">
            <a:extLst xmlns:a="http://schemas.openxmlformats.org/drawingml/2006/main">
              <a:ext uri="{FF2B5EF4-FFF2-40B4-BE49-F238E27FC236}">
                <a16:creationId xmlns:a16="http://schemas.microsoft.com/office/drawing/2014/main" id="{C0A5FEDB-7F1F-4D5D-8713-B174C612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두 번 모두 통과</a:t>
            </a:r>
          </a:p>
        </p:txBody>
      </p:sp>
      <p:sp>
        <p:nvSpPr>
          <p:cNvPr id="8" name="text-n7seer">
            <a:extLst xmlns:a="http://schemas.openxmlformats.org/drawingml/2006/main">
              <a:ext uri="{FF2B5EF4-FFF2-40B4-BE49-F238E27FC236}">
                <a16:creationId xmlns:a16="http://schemas.microsoft.com/office/drawing/2014/main" id="{2D6563EE-5E5F-40A7-AA6F-4D4115F2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기준과 근거 불일치</a:t>
            </a:r>
          </a:p>
        </p:txBody>
      </p:sp>
      <p:sp>
        <p:nvSpPr>
          <p:cNvPr id="9" name="text-gde65q">
            <a:extLst xmlns:a="http://schemas.openxmlformats.org/drawingml/2006/main">
              <a:ext uri="{FF2B5EF4-FFF2-40B4-BE49-F238E27FC236}">
                <a16:creationId xmlns:a16="http://schemas.microsoft.com/office/drawing/2014/main" id="{AAFCD070-B822-43E8-B897-3EC64F8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195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자료로 판단 불가</a:t>
            </a:r>
          </a:p>
        </p:txBody>
      </p:sp>
      <p:sp>
        <p:nvSpPr>
          <p:cNvPr id="10" name="box-0x2t4b">
            <a:extLst xmlns:a="http://schemas.openxmlformats.org/drawingml/2006/main">
              <a:ext uri="{FF2B5EF4-FFF2-40B4-BE49-F238E27FC236}">
                <a16:creationId xmlns:a16="http://schemas.microsoft.com/office/drawing/2014/main" id="{5019E10E-5791-445A-87BE-52D5FB7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8067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sicn6v">
            <a:extLst xmlns:a="http://schemas.openxmlformats.org/drawingml/2006/main">
              <a:ext uri="{FF2B5EF4-FFF2-40B4-BE49-F238E27FC236}">
                <a16:creationId xmlns:a16="http://schemas.microsoft.com/office/drawing/2014/main" id="{45A914CA-1CCC-4F96-A686-F552DFC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24375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c5nwgs">
            <a:extLst xmlns:a="http://schemas.openxmlformats.org/drawingml/2006/main">
              <a:ext uri="{FF2B5EF4-FFF2-40B4-BE49-F238E27FC236}">
                <a16:creationId xmlns:a16="http://schemas.microsoft.com/office/drawing/2014/main" id="{D6E99523-E062-45B0-A4BC-92C5E6E7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24375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onmvx7">
            <a:extLst xmlns:a="http://schemas.openxmlformats.org/drawingml/2006/main">
              <a:ext uri="{FF2B5EF4-FFF2-40B4-BE49-F238E27FC236}">
                <a16:creationId xmlns:a16="http://schemas.microsoft.com/office/drawing/2014/main" id="{8171FC76-B9E4-4A55-9AEA-E8EAD69E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성과는 모든 문제를 승인한 것이 아니라, 사용할 수 있는 범위와 모르는 범위를 분리한 것이다.</a:t>
            </a:r>
          </a:p>
        </p:txBody>
      </p:sp>
    </p:spTree>
    <p:extLst>
      <p:ext uri="{BB962C8B-B14F-4D97-AF65-F5344CB8AC3E}">
        <p14:creationId xmlns:p14="http://schemas.microsoft.com/office/powerpoint/2010/main" val="678096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3">
            <a:extLst xmlns:a="http://schemas.openxmlformats.org/drawingml/2006/main">
              <a:ext uri="{FF2B5EF4-FFF2-40B4-BE49-F238E27FC236}">
                <a16:creationId xmlns:a16="http://schemas.microsoft.com/office/drawing/2014/main" id="{9DF0714F-0403-4A6B-9C5A-1E01893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8105E132-1153-4262-9DF6-158C823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실제 결함: 여러 캠페인 비교를 문서 한 개로 채점하려 했다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188DF43-4177-4817-AE9E-27CE117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box-nd60oq">
            <a:extLst xmlns:a="http://schemas.openxmlformats.org/drawingml/2006/main">
              <a:ext uri="{FF2B5EF4-FFF2-40B4-BE49-F238E27FC236}">
                <a16:creationId xmlns:a16="http://schemas.microsoft.com/office/drawing/2014/main" id="{A21F336C-43CD-4A06-89C9-57F1BF8B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3429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n4vzzs">
            <a:extLst xmlns:a="http://schemas.openxmlformats.org/drawingml/2006/main">
              <a:ext uri="{FF2B5EF4-FFF2-40B4-BE49-F238E27FC236}">
                <a16:creationId xmlns:a16="http://schemas.microsoft.com/office/drawing/2014/main" id="{6E53906B-C79D-4EF6-9D9B-41BBEA5C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사용자 문제</a:t>
            </a:r>
          </a:p>
        </p:txBody>
      </p:sp>
      <p:sp>
        <p:nvSpPr>
          <p:cNvPr id="6" name="text-ek25wu">
            <a:extLst xmlns:a="http://schemas.openxmlformats.org/drawingml/2006/main">
              <a:ext uri="{FF2B5EF4-FFF2-40B4-BE49-F238E27FC236}">
                <a16:creationId xmlns:a16="http://schemas.microsoft.com/office/drawing/2014/main" id="{F5396401-B699-41B6-AD66-578945EE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“여러 캠페인의 결과를 비교해줘”</a:t>
            </a:r>
          </a:p>
        </p:txBody>
      </p:sp>
      <p:sp>
        <p:nvSpPr>
          <p:cNvPr id="7" name="box-zhgljt">
            <a:extLst xmlns:a="http://schemas.openxmlformats.org/drawingml/2006/main">
              <a:ext uri="{FF2B5EF4-FFF2-40B4-BE49-F238E27FC236}">
                <a16:creationId xmlns:a16="http://schemas.microsoft.com/office/drawing/2014/main" id="{71D7367B-677C-4F7F-8816-6871FEC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zhqc6e">
            <a:extLst xmlns:a="http://schemas.openxmlformats.org/drawingml/2006/main">
              <a:ext uri="{FF2B5EF4-FFF2-40B4-BE49-F238E27FC236}">
                <a16:creationId xmlns:a16="http://schemas.microsoft.com/office/drawing/2014/main" id="{2B2B71F3-701C-4A73-AE7B-98BC753F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성공 기준</a:t>
            </a:r>
          </a:p>
        </p:txBody>
      </p:sp>
      <p:sp>
        <p:nvSpPr>
          <p:cNvPr id="9" name="text-3mqmbq">
            <a:extLst xmlns:a="http://schemas.openxmlformats.org/drawingml/2006/main">
              <a:ext uri="{FF2B5EF4-FFF2-40B4-BE49-F238E27FC236}">
                <a16:creationId xmlns:a16="http://schemas.microsoft.com/office/drawing/2014/main" id="{971F9F49-11CC-4080-8633-200A931F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전체 비교 대상 확인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비교 결과 설명</a:t>
            </a:r>
          </a:p>
        </p:txBody>
      </p:sp>
      <p:sp>
        <p:nvSpPr>
          <p:cNvPr id="10" name="box-v9g9cn">
            <a:extLst xmlns:a="http://schemas.openxmlformats.org/drawingml/2006/main">
              <a:ext uri="{FF2B5EF4-FFF2-40B4-BE49-F238E27FC236}">
                <a16:creationId xmlns:a16="http://schemas.microsoft.com/office/drawing/2014/main" id="{ED5E0ACB-5EBC-43B6-B1A8-4C5806DB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429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hmhk70">
            <a:extLst xmlns:a="http://schemas.openxmlformats.org/drawingml/2006/main">
              <a:ext uri="{FF2B5EF4-FFF2-40B4-BE49-F238E27FC236}">
                <a16:creationId xmlns:a16="http://schemas.microsoft.com/office/drawing/2014/main" id="{204A6AAC-9918-46A0-92DD-45022E07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등록된 근거</a:t>
            </a:r>
          </a:p>
        </p:txBody>
      </p:sp>
      <p:sp>
        <p:nvSpPr>
          <p:cNvPr id="12" name="text-r0w7dv">
            <a:extLst xmlns:a="http://schemas.openxmlformats.org/drawingml/2006/main">
              <a:ext uri="{FF2B5EF4-FFF2-40B4-BE49-F238E27FC236}">
                <a16:creationId xmlns:a16="http://schemas.microsoft.com/office/drawing/2014/main" id="{DD9B5AE5-4921-44F4-8521-59C47CD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971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한 캠페인의 메모 한 개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성공 기준과 연결 없음</a:t>
            </a:r>
          </a:p>
        </p:txBody>
      </p:sp>
      <p:sp>
        <p:nvSpPr>
          <p:cNvPr id="13" name="text-9clvmm">
            <a:extLst xmlns:a="http://schemas.openxmlformats.org/drawingml/2006/main">
              <a:ext uri="{FF2B5EF4-FFF2-40B4-BE49-F238E27FC236}">
                <a16:creationId xmlns:a16="http://schemas.microsoft.com/office/drawing/2014/main" id="{C7F347A9-A0A5-4B88-A237-E014A388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여러 대상을 비교하는 문제 ≠ 한 대상의 문서 한 개</a:t>
            </a:r>
          </a:p>
        </p:txBody>
      </p:sp>
    </p:spTree>
    <p:extLst>
      <p:ext uri="{BB962C8B-B14F-4D97-AF65-F5344CB8AC3E}">
        <p14:creationId xmlns:p14="http://schemas.microsoft.com/office/powerpoint/2010/main" val="1443463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4">
            <a:extLst xmlns:a="http://schemas.openxmlformats.org/drawingml/2006/main">
              <a:ext uri="{FF2B5EF4-FFF2-40B4-BE49-F238E27FC236}">
                <a16:creationId xmlns:a16="http://schemas.microsoft.com/office/drawing/2014/main" id="{9D880BB6-BB27-4640-B3F9-CC8A8098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EVAL SYSTEM REDESIGN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465C23BA-440F-4B1A-A117-F5A51DB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이제 두 시스템을 같은 문제로 나란히 비교할 수 있다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B262A46C-FD96-4AFB-8E50-8DE54E39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box-6p7qee">
            <a:extLst xmlns:a="http://schemas.openxmlformats.org/drawingml/2006/main">
              <a:ext uri="{FF2B5EF4-FFF2-40B4-BE49-F238E27FC236}">
                <a16:creationId xmlns:a16="http://schemas.microsoft.com/office/drawing/2014/main" id="{1E0A7C3D-3277-4DC3-9FA1-D7010B4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524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fet47h">
            <a:extLst xmlns:a="http://schemas.openxmlformats.org/drawingml/2006/main">
              <a:ext uri="{FF2B5EF4-FFF2-40B4-BE49-F238E27FC236}">
                <a16:creationId xmlns:a16="http://schemas.microsoft.com/office/drawing/2014/main" id="{2CD61B1A-32AC-400E-811A-C67FAD8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71675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시험 조건</a:t>
            </a:r>
          </a:p>
        </p:txBody>
      </p:sp>
      <p:sp>
        <p:nvSpPr>
          <p:cNvPr id="6" name="text-qe49t6">
            <a:extLst xmlns:a="http://schemas.openxmlformats.org/drawingml/2006/main">
              <a:ext uri="{FF2B5EF4-FFF2-40B4-BE49-F238E27FC236}">
                <a16:creationId xmlns:a16="http://schemas.microsoft.com/office/drawing/2014/main" id="{3F66E8D1-8ABD-4FC1-B78D-0F57D56C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47925"/>
            <a:ext cx="3067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65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같은 문제 · 같은 성공 기준 · 같은 자료 · 같은 반복 횟수</a:t>
            </a:r>
          </a:p>
        </p:txBody>
      </p:sp>
      <p:sp>
        <p:nvSpPr>
          <p:cNvPr id="7" name="box-ffqqw4">
            <a:extLst xmlns:a="http://schemas.openxmlformats.org/drawingml/2006/main">
              <a:ext uri="{FF2B5EF4-FFF2-40B4-BE49-F238E27FC236}">
                <a16:creationId xmlns:a16="http://schemas.microsoft.com/office/drawing/2014/main" id="{5C4400F1-A1E0-405D-A68D-7154EDBC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yz5gko">
            <a:extLst xmlns:a="http://schemas.openxmlformats.org/drawingml/2006/main">
              <a:ext uri="{FF2B5EF4-FFF2-40B4-BE49-F238E27FC236}">
                <a16:creationId xmlns:a16="http://schemas.microsoft.com/office/drawing/2014/main" id="{F84FE774-7C50-4A5F-B28F-2DFEB4E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767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기존 시스템</a:t>
            </a:r>
          </a:p>
        </p:txBody>
      </p:sp>
      <p:sp>
        <p:nvSpPr>
          <p:cNvPr id="9" name="text-odpder">
            <a:extLst xmlns:a="http://schemas.openxmlformats.org/drawingml/2006/main">
              <a:ext uri="{FF2B5EF4-FFF2-40B4-BE49-F238E27FC236}">
                <a16:creationId xmlns:a16="http://schemas.microsoft.com/office/drawing/2014/main" id="{CCA8846F-A7B4-4123-8E7D-EDD7FB7C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3392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도구와 선택 방식</a:t>
            </a:r>
          </a:p>
        </p:txBody>
      </p:sp>
      <p:sp>
        <p:nvSpPr>
          <p:cNvPr id="10" name="box-luywwb">
            <a:extLst xmlns:a="http://schemas.openxmlformats.org/drawingml/2006/main">
              <a:ext uri="{FF2B5EF4-FFF2-40B4-BE49-F238E27FC236}">
                <a16:creationId xmlns:a16="http://schemas.microsoft.com/office/drawing/2014/main" id="{A098262A-BF3B-4524-9A72-CCBA281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381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tf6b7">
            <a:extLst xmlns:a="http://schemas.openxmlformats.org/drawingml/2006/main">
              <a:ext uri="{FF2B5EF4-FFF2-40B4-BE49-F238E27FC236}">
                <a16:creationId xmlns:a16="http://schemas.microsoft.com/office/drawing/2014/main" id="{16A3F0B3-A106-4990-8713-4887868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시스템</a:t>
            </a:r>
          </a:p>
        </p:txBody>
      </p:sp>
      <p:sp>
        <p:nvSpPr>
          <p:cNvPr id="12" name="text-do9dx4">
            <a:extLst xmlns:a="http://schemas.openxmlformats.org/drawingml/2006/main">
              <a:ext uri="{FF2B5EF4-FFF2-40B4-BE49-F238E27FC236}">
                <a16:creationId xmlns:a16="http://schemas.microsoft.com/office/drawing/2014/main" id="{393ADD7D-7EDF-4DF6-911A-96B6FAF5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33925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 검색·새 도구·새 선택 방식</a:t>
            </a:r>
          </a:p>
        </p:txBody>
      </p:sp>
      <p:cxnSp>
        <p:nvCxnSpPr>
          <p:cNvPr id="28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048000" y="3048000"/>
            <a:ext cx="3048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048000"/>
            <a:ext cx="3048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5" name="text-tx0vfo">
            <a:extLst xmlns:a="http://schemas.openxmlformats.org/drawingml/2006/main">
              <a:ext uri="{FF2B5EF4-FFF2-40B4-BE49-F238E27FC236}">
                <a16:creationId xmlns:a16="http://schemas.microsoft.com/office/drawing/2014/main" id="{5E6BAEE3-8CBD-479F-9C38-7D9481F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새로 푼 문제 · 망가진 문제 · 답의 품질 · 시간과 비용을 함께 본다.</a:t>
            </a:r>
          </a:p>
        </p:txBody>
      </p:sp>
    </p:spTree>
    <p:extLst>
      <p:ext uri="{BB962C8B-B14F-4D97-AF65-F5344CB8AC3E}">
        <p14:creationId xmlns:p14="http://schemas.microsoft.com/office/powerpoint/2010/main" val="855719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f11xpv">
            <a:extLst xmlns:a="http://schemas.openxmlformats.org/drawingml/2006/main">
              <a:ext uri="{FF2B5EF4-FFF2-40B4-BE49-F238E27FC236}">
                <a16:creationId xmlns:a16="http://schemas.microsoft.com/office/drawing/2014/main" id="{EC366E8E-49B9-4297-AE57-3347417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2" name="text-00jhkr">
            <a:extLst xmlns:a="http://schemas.openxmlformats.org/drawingml/2006/main">
              <a:ext uri="{FF2B5EF4-FFF2-40B4-BE49-F238E27FC236}">
                <a16:creationId xmlns:a16="http://schemas.microsoft.com/office/drawing/2014/main" id="{2CBE3EBF-E471-4033-A336-E6AE407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평가를 시스템에서 떼어내야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시스템을 자유롭게 바꿀 수 있다.</a:t>
            </a:r>
          </a:p>
        </p:txBody>
      </p:sp>
      <p:cxnSp>
        <p:nvCxnSpPr>
          <p:cNvPr id="8" name="rule-ffooo0"/>
          <p:cNvCxnSpPr/>
          <p:nvPr/>
        </p:nvCxnSpPr>
        <p:spPr>
          <a:xfrm xmlns:a="http://schemas.openxmlformats.org/drawingml/2006/main">
            <a:off x="400050" y="4286250"/>
            <a:ext cx="514350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text-lcuifw">
            <a:extLst xmlns:a="http://schemas.openxmlformats.org/drawingml/2006/main">
              <a:ext uri="{FF2B5EF4-FFF2-40B4-BE49-F238E27FC236}">
                <a16:creationId xmlns:a16="http://schemas.microsoft.com/office/drawing/2014/main" id="{29340EB0-EC6F-4B36-B436-29712885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바뀐 기능이 아니라, 실제로 더 잘 풀게 된 문제를 증명한다.</a:t>
            </a:r>
          </a:p>
        </p:txBody>
      </p:sp>
      <p:sp>
        <p:nvSpPr>
          <p:cNvPr id="5" name="text-or9z29">
            <a:extLst xmlns:a="http://schemas.openxmlformats.org/drawingml/2006/main">
              <a:ext uri="{FF2B5EF4-FFF2-40B4-BE49-F238E27FC236}">
                <a16:creationId xmlns:a16="http://schemas.microsoft.com/office/drawing/2014/main" id="{DFDCDEC6-13BC-4A2D-AA30-493C5E95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다음: 비교 문제 10개 수정 → 답이 없는 문제 29개 검증 → 실제 사용자 문제 추가</a:t>
            </a:r>
          </a:p>
        </p:txBody>
      </p:sp>
    </p:spTree>
    <p:extLst>
      <p:ext uri="{BB962C8B-B14F-4D97-AF65-F5344CB8AC3E}">
        <p14:creationId xmlns:p14="http://schemas.microsoft.com/office/powerpoint/2010/main" val="11376589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6">
            <a:extLst xmlns:a="http://schemas.openxmlformats.org/drawingml/2006/main">
              <a:ext uri="{FF2B5EF4-FFF2-40B4-BE49-F238E27FC236}">
                <a16:creationId xmlns:a16="http://schemas.microsoft.com/office/drawing/2014/main" id="{62187010-6AD9-479B-A4DE-BDB2702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DEVELOPER APPENDIX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9EF54143-BEC6-4989-BB24-5A53DAA1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부록 · 실제 파일은 세 역할로 나뉜다</a:t>
            </a:r>
          </a:p>
        </p:txBody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F343806E-2EAA-4D41-9DCA-74BDFC53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box-mssbte">
            <a:extLst xmlns:a="http://schemas.openxmlformats.org/drawingml/2006/main">
              <a:ext uri="{FF2B5EF4-FFF2-40B4-BE49-F238E27FC236}">
                <a16:creationId xmlns:a16="http://schemas.microsoft.com/office/drawing/2014/main" id="{D0773CCD-D3E5-4B16-94F8-81CC005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24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zip13j">
            <a:extLst xmlns:a="http://schemas.openxmlformats.org/drawingml/2006/main">
              <a:ext uri="{FF2B5EF4-FFF2-40B4-BE49-F238E27FC236}">
                <a16:creationId xmlns:a16="http://schemas.microsoft.com/office/drawing/2014/main" id="{6A4D7EA6-6BD5-4ED6-8F01-23094C41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evals/</a:t>
            </a:r>
          </a:p>
        </p:txBody>
      </p:sp>
      <p:sp>
        <p:nvSpPr>
          <p:cNvPr id="6" name="text-ipu0j7">
            <a:extLst xmlns:a="http://schemas.openxmlformats.org/drawingml/2006/main">
              <a:ext uri="{FF2B5EF4-FFF2-40B4-BE49-F238E27FC236}">
                <a16:creationId xmlns:a16="http://schemas.microsoft.com/office/drawing/2014/main" id="{291F43F7-0EF9-4360-B5B4-A5E80115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67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 데이터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채점 기준 문서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설정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생성된 결과</a:t>
            </a:r>
          </a:p>
        </p:txBody>
      </p:sp>
      <p:sp>
        <p:nvSpPr>
          <p:cNvPr id="7" name="box-3v5kom">
            <a:extLst xmlns:a="http://schemas.openxmlformats.org/drawingml/2006/main">
              <a:ext uri="{FF2B5EF4-FFF2-40B4-BE49-F238E27FC236}">
                <a16:creationId xmlns:a16="http://schemas.microsoft.com/office/drawing/2014/main" id="{D759F7CF-B9EE-4C01-9597-A5608765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524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jyjjqa">
            <a:extLst xmlns:a="http://schemas.openxmlformats.org/drawingml/2006/main">
              <a:ext uri="{FF2B5EF4-FFF2-40B4-BE49-F238E27FC236}">
                <a16:creationId xmlns:a16="http://schemas.microsoft.com/office/drawing/2014/main" id="{75BA065D-FB30-42B9-A19D-968C92F8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98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src/.../evaluation/</a:t>
            </a:r>
          </a:p>
        </p:txBody>
      </p:sp>
      <p:sp>
        <p:nvSpPr>
          <p:cNvPr id="9" name="text-7ugv7u">
            <a:extLst xmlns:a="http://schemas.openxmlformats.org/drawingml/2006/main">
              <a:ext uri="{FF2B5EF4-FFF2-40B4-BE49-F238E27FC236}">
                <a16:creationId xmlns:a16="http://schemas.microsoft.com/office/drawing/2014/main" id="{51784ADE-333D-476F-B63C-FCD87DC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86050"/>
            <a:ext cx="3067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데이터 계약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실험 실행 코드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 채점기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점수 계산 규칙</a:t>
            </a:r>
          </a:p>
        </p:txBody>
      </p:sp>
      <p:sp>
        <p:nvSpPr>
          <p:cNvPr id="10" name="box-wk7zxy">
            <a:extLst xmlns:a="http://schemas.openxmlformats.org/drawingml/2006/main">
              <a:ext uri="{FF2B5EF4-FFF2-40B4-BE49-F238E27FC236}">
                <a16:creationId xmlns:a16="http://schemas.microsoft.com/office/drawing/2014/main" id="{AF4E44D7-472A-4F45-A613-6F39B1A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524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ckruje">
            <a:extLst xmlns:a="http://schemas.openxmlformats.org/drawingml/2006/main">
              <a:ext uri="{FF2B5EF4-FFF2-40B4-BE49-F238E27FC236}">
                <a16:creationId xmlns:a16="http://schemas.microsoft.com/office/drawing/2014/main" id="{D7D0BFDB-4DEA-4E14-91BC-D35D6882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tests/</a:t>
            </a:r>
          </a:p>
        </p:txBody>
      </p:sp>
      <p:sp>
        <p:nvSpPr>
          <p:cNvPr id="12" name="text-xp90i7">
            <a:extLst xmlns:a="http://schemas.openxmlformats.org/drawingml/2006/main">
              <a:ext uri="{FF2B5EF4-FFF2-40B4-BE49-F238E27FC236}">
                <a16:creationId xmlns:a16="http://schemas.microsoft.com/office/drawing/2014/main" id="{098D335D-D7FB-4511-8D56-97F005CD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3067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파일 간 연결 검사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실험 조건 검사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채점기 실패 분리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저장 결과 재현 검사</a:t>
            </a:r>
          </a:p>
        </p:txBody>
      </p:sp>
    </p:spTree>
    <p:extLst>
      <p:ext uri="{BB962C8B-B14F-4D97-AF65-F5344CB8AC3E}">
        <p14:creationId xmlns:p14="http://schemas.microsoft.com/office/powerpoint/2010/main" val="10900745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7">
            <a:extLst xmlns:a="http://schemas.openxmlformats.org/drawingml/2006/main">
              <a:ext uri="{FF2B5EF4-FFF2-40B4-BE49-F238E27FC236}">
                <a16:creationId xmlns:a16="http://schemas.microsoft.com/office/drawing/2014/main" id="{1EFEAF85-AE3E-494F-8530-A1AC805F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DEVELOPER APPENDIX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DFCAA8D4-21D4-4714-BE63-57E5E9D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부록 · AI 채점기 내부 흐름</a:t>
            </a:r>
          </a:p>
        </p:txBody>
      </p:sp>
      <p:sp>
        <p:nvSpPr>
          <p:cNvPr id="3" name="page-17">
            <a:extLst xmlns:a="http://schemas.openxmlformats.org/drawingml/2006/main">
              <a:ext uri="{FF2B5EF4-FFF2-40B4-BE49-F238E27FC236}">
                <a16:creationId xmlns:a16="http://schemas.microsoft.com/office/drawing/2014/main" id="{7B39A9ED-4210-4C1A-BA07-D0EEB05C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box-n76qoa">
            <a:extLst xmlns:a="http://schemas.openxmlformats.org/drawingml/2006/main">
              <a:ext uri="{FF2B5EF4-FFF2-40B4-BE49-F238E27FC236}">
                <a16:creationId xmlns:a16="http://schemas.microsoft.com/office/drawing/2014/main" id="{4B96AA4F-A992-4D3B-BC86-EABCFAE5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as852b">
            <a:extLst xmlns:a="http://schemas.openxmlformats.org/drawingml/2006/main">
              <a:ext uri="{FF2B5EF4-FFF2-40B4-BE49-F238E27FC236}">
                <a16:creationId xmlns:a16="http://schemas.microsoft.com/office/drawing/2014/main" id="{B61E8A9B-3248-455D-A6E0-A1112388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6" name="text-ktca13">
            <a:extLst xmlns:a="http://schemas.openxmlformats.org/drawingml/2006/main">
              <a:ext uri="{FF2B5EF4-FFF2-40B4-BE49-F238E27FC236}">
                <a16:creationId xmlns:a16="http://schemas.microsoft.com/office/drawing/2014/main" id="{9CB49ED0-51E3-4865-853D-E52A41A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9716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모델과 생각 수준 고정</a:t>
            </a:r>
          </a:p>
        </p:txBody>
      </p:sp>
      <p:sp>
        <p:nvSpPr>
          <p:cNvPr id="7" name="box-7gxh36">
            <a:extLst xmlns:a="http://schemas.openxmlformats.org/drawingml/2006/main">
              <a:ext uri="{FF2B5EF4-FFF2-40B4-BE49-F238E27FC236}">
                <a16:creationId xmlns:a16="http://schemas.microsoft.com/office/drawing/2014/main" id="{08B499C4-8296-411E-A7BA-836447E4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w0a4z3">
            <a:extLst xmlns:a="http://schemas.openxmlformats.org/drawingml/2006/main">
              <a:ext uri="{FF2B5EF4-FFF2-40B4-BE49-F238E27FC236}">
                <a16:creationId xmlns:a16="http://schemas.microsoft.com/office/drawing/2014/main" id="{9552C80F-B39C-484C-B15B-F98406C4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8130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근거 읽기</a:t>
            </a:r>
          </a:p>
        </p:txBody>
      </p:sp>
      <p:sp>
        <p:nvSpPr>
          <p:cNvPr id="9" name="text-mflrr7">
            <a:extLst xmlns:a="http://schemas.openxmlformats.org/drawingml/2006/main">
              <a:ext uri="{FF2B5EF4-FFF2-40B4-BE49-F238E27FC236}">
                <a16:creationId xmlns:a16="http://schemas.microsoft.com/office/drawing/2014/main" id="{FEAAF29A-0B68-4A97-A679-196E564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19716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원본 자료의 해시 확인</a:t>
            </a:r>
          </a:p>
        </p:txBody>
      </p:sp>
      <p:sp>
        <p:nvSpPr>
          <p:cNvPr id="10" name="box-2vka29">
            <a:extLst xmlns:a="http://schemas.openxmlformats.org/drawingml/2006/main">
              <a:ext uri="{FF2B5EF4-FFF2-40B4-BE49-F238E27FC236}">
                <a16:creationId xmlns:a16="http://schemas.microsoft.com/office/drawing/2014/main" id="{40B59F37-934D-4F58-9004-33CB65B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9uwj9">
            <a:extLst xmlns:a="http://schemas.openxmlformats.org/drawingml/2006/main">
              <a:ext uri="{FF2B5EF4-FFF2-40B4-BE49-F238E27FC236}">
                <a16:creationId xmlns:a16="http://schemas.microsoft.com/office/drawing/2014/main" id="{DD64B16F-155B-4A5B-A241-D1C0C3A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AI 판단</a:t>
            </a:r>
          </a:p>
        </p:txBody>
      </p:sp>
      <p:sp>
        <p:nvSpPr>
          <p:cNvPr id="12" name="text-qz2vzd">
            <a:extLst xmlns:a="http://schemas.openxmlformats.org/drawingml/2006/main">
              <a:ext uri="{FF2B5EF4-FFF2-40B4-BE49-F238E27FC236}">
                <a16:creationId xmlns:a16="http://schemas.microsoft.com/office/drawing/2014/main" id="{431565C3-7DDA-4548-89EC-DB2DBC5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19716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정해진 JSON 형식으로 응답</a:t>
            </a:r>
          </a:p>
        </p:txBody>
      </p:sp>
      <p:sp>
        <p:nvSpPr>
          <p:cNvPr id="13" name="box-qt9pd9">
            <a:extLst xmlns:a="http://schemas.openxmlformats.org/drawingml/2006/main">
              <a:ext uri="{FF2B5EF4-FFF2-40B4-BE49-F238E27FC236}">
                <a16:creationId xmlns:a16="http://schemas.microsoft.com/office/drawing/2014/main" id="{83F833ED-76CE-4113-B88F-975512B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rylxi">
            <a:extLst xmlns:a="http://schemas.openxmlformats.org/drawingml/2006/main">
              <a:ext uri="{FF2B5EF4-FFF2-40B4-BE49-F238E27FC236}">
                <a16:creationId xmlns:a16="http://schemas.microsoft.com/office/drawing/2014/main" id="{5F46D8C1-330C-4E1A-9619-DEFB63E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8130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코드 계산</a:t>
            </a:r>
          </a:p>
        </p:txBody>
      </p:sp>
      <p:sp>
        <p:nvSpPr>
          <p:cNvPr id="15" name="text-j9cpbm">
            <a:extLst xmlns:a="http://schemas.openxmlformats.org/drawingml/2006/main">
              <a:ext uri="{FF2B5EF4-FFF2-40B4-BE49-F238E27FC236}">
                <a16:creationId xmlns:a16="http://schemas.microsoft.com/office/drawing/2014/main" id="{A35144DC-A6A9-470A-9C70-8B252A7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57550"/>
            <a:ext cx="19716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최종 점수와 성공 여부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9875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15000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0125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9" name="text-p7i0r0">
            <a:extLst xmlns:a="http://schemas.openxmlformats.org/drawingml/2006/main">
              <a:ext uri="{FF2B5EF4-FFF2-40B4-BE49-F238E27FC236}">
                <a16:creationId xmlns:a16="http://schemas.microsoft.com/office/drawing/2014/main" id="{304FEDDB-E113-45BC-893D-25B3A2C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오류가 나면 임의 점수를 만들지 않고 ‘채점 실패’로 남긴다.</a:t>
            </a:r>
          </a:p>
        </p:txBody>
      </p:sp>
    </p:spTree>
    <p:extLst>
      <p:ext uri="{BB962C8B-B14F-4D97-AF65-F5344CB8AC3E}">
        <p14:creationId xmlns:p14="http://schemas.microsoft.com/office/powerpoint/2010/main" val="229702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8">
            <a:extLst xmlns:a="http://schemas.openxmlformats.org/drawingml/2006/main">
              <a:ext uri="{FF2B5EF4-FFF2-40B4-BE49-F238E27FC236}">
                <a16:creationId xmlns:a16="http://schemas.microsoft.com/office/drawing/2014/main" id="{5FE978A6-B90C-40A4-B245-5F0BAD07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DEVELOPER APPENDIX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E73F050D-18B7-400D-864F-28FCB369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부록 · 시스템 실패와 채점 실패를 섞지 않는다</a:t>
            </a:r>
          </a:p>
        </p:txBody>
      </p:sp>
      <p:sp>
        <p:nvSpPr>
          <p:cNvPr id="3" name="page-18">
            <a:extLst xmlns:a="http://schemas.openxmlformats.org/drawingml/2006/main">
              <a:ext uri="{FF2B5EF4-FFF2-40B4-BE49-F238E27FC236}">
                <a16:creationId xmlns:a16="http://schemas.microsoft.com/office/drawing/2014/main" id="{40DF29F0-06CF-475B-BAC8-0971D7A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text-nlekb0">
            <a:extLst xmlns:a="http://schemas.openxmlformats.org/drawingml/2006/main">
              <a:ext uri="{FF2B5EF4-FFF2-40B4-BE49-F238E27FC236}">
                <a16:creationId xmlns:a16="http://schemas.microsoft.com/office/drawing/2014/main" id="{85E405FF-27A6-4574-9EA7-EB28970A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시스템 쪽</a:t>
            </a:r>
          </a:p>
        </p:txBody>
      </p:sp>
      <p:sp>
        <p:nvSpPr>
          <p:cNvPr id="5" name="text-7cpoy8">
            <a:extLst xmlns:a="http://schemas.openxmlformats.org/drawingml/2006/main">
              <a:ext uri="{FF2B5EF4-FFF2-40B4-BE49-F238E27FC236}">
                <a16:creationId xmlns:a16="http://schemas.microsoft.com/office/drawing/2014/main" id="{07BC64E2-0403-4ADE-BA65-E9FE66E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평가 쪽</a:t>
            </a:r>
          </a:p>
        </p:txBody>
      </p:sp>
      <p:sp>
        <p:nvSpPr>
          <p:cNvPr id="6" name="text-zoqff2">
            <a:extLst xmlns:a="http://schemas.openxmlformats.org/drawingml/2006/main">
              <a:ext uri="{FF2B5EF4-FFF2-40B4-BE49-F238E27FC236}">
                <a16:creationId xmlns:a16="http://schemas.microsoft.com/office/drawing/2014/main" id="{319BAFC3-5ABA-4270-A487-CB6C17EE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시스템 실행 실패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제한 시간 초과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답변과 검색 과정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시스템 시간·토큰·비용</a:t>
            </a:r>
          </a:p>
        </p:txBody>
      </p:sp>
      <p:sp>
        <p:nvSpPr>
          <p:cNvPr id="7" name="text-oe1wr5">
            <a:extLst xmlns:a="http://schemas.openxmlformats.org/drawingml/2006/main">
              <a:ext uri="{FF2B5EF4-FFF2-40B4-BE49-F238E27FC236}">
                <a16:creationId xmlns:a16="http://schemas.microsoft.com/office/drawing/2014/main" id="{56C88CE6-3B4F-432E-A9E6-92BA4C0F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AI 채점 실패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평가 코드 실패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채점 요청 번호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채점 시간·토큰·비용</a:t>
            </a:r>
          </a:p>
        </p:txBody>
      </p:sp>
      <p:sp>
        <p:nvSpPr>
          <p:cNvPr id="8" name="box-fkhoxn">
            <a:extLst xmlns:a="http://schemas.openxmlformats.org/drawingml/2006/main">
              <a:ext uri="{FF2B5EF4-FFF2-40B4-BE49-F238E27FC236}">
                <a16:creationId xmlns:a16="http://schemas.microsoft.com/office/drawing/2014/main" id="{0B470853-F4D9-4CAE-B4D0-9ED0AE04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miu0p3">
            <a:extLst xmlns:a="http://schemas.openxmlformats.org/drawingml/2006/main">
              <a:ext uri="{FF2B5EF4-FFF2-40B4-BE49-F238E27FC236}">
                <a16:creationId xmlns:a16="http://schemas.microsoft.com/office/drawing/2014/main" id="{BC456508-CB54-4697-AB0E-71ACDE2D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채점기가 고장 났다고 시스템을 오답 처리하지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246708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9">
            <a:extLst xmlns:a="http://schemas.openxmlformats.org/drawingml/2006/main">
              <a:ext uri="{FF2B5EF4-FFF2-40B4-BE49-F238E27FC236}">
                <a16:creationId xmlns:a16="http://schemas.microsoft.com/office/drawing/2014/main" id="{423787E3-69F6-41BE-A71C-63111341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DEVELOPER APPENDIX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FB7F383A-A4BE-493A-BEF7-ADA6950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부록 · 실제 AI 채점 실행 결과</a:t>
            </a:r>
          </a:p>
        </p:txBody>
      </p:sp>
      <p:sp>
        <p:nvSpPr>
          <p:cNvPr id="3" name="page-19">
            <a:extLst xmlns:a="http://schemas.openxmlformats.org/drawingml/2006/main">
              <a:ext uri="{FF2B5EF4-FFF2-40B4-BE49-F238E27FC236}">
                <a16:creationId xmlns:a16="http://schemas.microsoft.com/office/drawing/2014/main" id="{E2ED1C6F-E0DB-42AC-A9D4-93AD70C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box-p7cmoh">
            <a:extLst xmlns:a="http://schemas.openxmlformats.org/drawingml/2006/main">
              <a:ext uri="{FF2B5EF4-FFF2-40B4-BE49-F238E27FC236}">
                <a16:creationId xmlns:a16="http://schemas.microsoft.com/office/drawing/2014/main" id="{CF80D1FA-3D38-456D-A5AB-FFD43A0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m9imki">
            <a:extLst xmlns:a="http://schemas.openxmlformats.org/drawingml/2006/main">
              <a:ext uri="{FF2B5EF4-FFF2-40B4-BE49-F238E27FC236}">
                <a16:creationId xmlns:a16="http://schemas.microsoft.com/office/drawing/2014/main" id="{16FB65D5-97B6-4D39-9E4A-CB0D49F5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242회</a:t>
            </a:r>
          </a:p>
        </p:txBody>
      </p:sp>
      <p:sp>
        <p:nvSpPr>
          <p:cNvPr id="6" name="text-0yed46">
            <a:extLst xmlns:a="http://schemas.openxmlformats.org/drawingml/2006/main">
              <a:ext uri="{FF2B5EF4-FFF2-40B4-BE49-F238E27FC236}">
                <a16:creationId xmlns:a16="http://schemas.microsoft.com/office/drawing/2014/main" id="{374FFF7A-48DA-46FC-BBE6-6C5A074B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두 번씩 실행한 AI 검사</a:t>
            </a:r>
          </a:p>
        </p:txBody>
      </p:sp>
      <p:sp>
        <p:nvSpPr>
          <p:cNvPr id="7" name="box-23x1os">
            <a:extLst xmlns:a="http://schemas.openxmlformats.org/drawingml/2006/main">
              <a:ext uri="{FF2B5EF4-FFF2-40B4-BE49-F238E27FC236}">
                <a16:creationId xmlns:a16="http://schemas.microsoft.com/office/drawing/2014/main" id="{A315B213-C86E-4A74-A044-4256171B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670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u0ybfl">
            <a:extLst xmlns:a="http://schemas.openxmlformats.org/drawingml/2006/main">
              <a:ext uri="{FF2B5EF4-FFF2-40B4-BE49-F238E27FC236}">
                <a16:creationId xmlns:a16="http://schemas.microsoft.com/office/drawing/2014/main" id="{55D9A0D4-E00E-4915-BE4C-62154933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0회</a:t>
            </a:r>
          </a:p>
        </p:txBody>
      </p:sp>
      <p:sp>
        <p:nvSpPr>
          <p:cNvPr id="9" name="text-3axpm1">
            <a:extLst xmlns:a="http://schemas.openxmlformats.org/drawingml/2006/main">
              <a:ext uri="{FF2B5EF4-FFF2-40B4-BE49-F238E27FC236}">
                <a16:creationId xmlns:a16="http://schemas.microsoft.com/office/drawing/2014/main" id="{8ABA0479-604A-4190-A8F6-94740CBF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두 검사 사이의 의견 불일치</a:t>
            </a:r>
          </a:p>
        </p:txBody>
      </p:sp>
      <p:sp>
        <p:nvSpPr>
          <p:cNvPr id="10" name="box-yczk6l">
            <a:extLst xmlns:a="http://schemas.openxmlformats.org/drawingml/2006/main">
              <a:ext uri="{FF2B5EF4-FFF2-40B4-BE49-F238E27FC236}">
                <a16:creationId xmlns:a16="http://schemas.microsoft.com/office/drawing/2014/main" id="{C1DC5D0E-3F31-446B-9D12-32B3F49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j0bmrt">
            <a:extLst xmlns:a="http://schemas.openxmlformats.org/drawingml/2006/main">
              <a:ext uri="{FF2B5EF4-FFF2-40B4-BE49-F238E27FC236}">
                <a16:creationId xmlns:a16="http://schemas.microsoft.com/office/drawing/2014/main" id="{F5F9B43B-A0A1-42DF-A653-4FAA0D2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약 $0.82</a:t>
            </a:r>
          </a:p>
        </p:txBody>
      </p:sp>
      <p:sp>
        <p:nvSpPr>
          <p:cNvPr id="12" name="text-k9kpm9">
            <a:extLst xmlns:a="http://schemas.openxmlformats.org/drawingml/2006/main">
              <a:ext uri="{FF2B5EF4-FFF2-40B4-BE49-F238E27FC236}">
                <a16:creationId xmlns:a16="http://schemas.microsoft.com/office/drawing/2014/main" id="{97677F92-0F52-4724-ACFA-B1D08EE8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전체 검사 추정 비용</a:t>
            </a:r>
          </a:p>
        </p:txBody>
      </p:sp>
      <p:sp>
        <p:nvSpPr>
          <p:cNvPr id="13" name="text-9czsns">
            <a:extLst xmlns:a="http://schemas.openxmlformats.org/drawingml/2006/main">
              <a:ext uri="{FF2B5EF4-FFF2-40B4-BE49-F238E27FC236}">
                <a16:creationId xmlns:a16="http://schemas.microsoft.com/office/drawing/2014/main" id="{DF02B3C1-E495-4B3E-91B0-20B02A96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46A73"/>
                </a:solidFill>
                <a:latin typeface="Apple SD Gothic Neo"/>
                <a:ea typeface="Apple SD Gothic Neo"/>
                <a:cs typeface="Apple SD Gothic Neo"/>
              </a:rPr>
              <a:t>평균 약 6.03초 · 재시도 7회 · Gemini 3.7 Flash / medium</a:t>
            </a:r>
          </a:p>
        </p:txBody>
      </p:sp>
    </p:spTree>
    <p:extLst>
      <p:ext uri="{BB962C8B-B14F-4D97-AF65-F5344CB8AC3E}">
        <p14:creationId xmlns:p14="http://schemas.microsoft.com/office/powerpoint/2010/main" val="2057722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2026-08-31T13:09:47.1040000Z</dcterms:created>
  <dcterms:modified xsi:type="dcterms:W3CDTF">2026-08-31T13:09:47.1040000Z</dcterms:modified>
</coreProperties>
</file>