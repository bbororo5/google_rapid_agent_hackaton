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496e96dd424dc2" /><Relationship Type="http://schemas.openxmlformats.org/officeDocument/2006/relationships/extended-properties" Target="/docProps/app.xml" Id="R5d5860ad3ff047b2" /><Relationship Type="http://schemas.openxmlformats.org/officeDocument/2006/relationships/officeDocument" Target="/ppt/presentation.xml" Id="R3c6c8261451545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1e48e91df34ebb"/>
  </p:sldMasterIdLst>
  <p:notesMasterIdLst>
    <p:notesMasterId xmlns:r="http://schemas.openxmlformats.org/officeDocument/2006/relationships" r:id="R3f2fe836ce2a4973"/>
  </p:notesMasterIdLst>
  <p:sldIdLst>
    <p:sldId xmlns:r="http://schemas.openxmlformats.org/officeDocument/2006/relationships" id="256" r:id="R9a6b4e81775d4bb7"/>
    <p:sldId xmlns:r="http://schemas.openxmlformats.org/officeDocument/2006/relationships" id="257" r:id="R32b451d59d4b4881"/>
    <p:sldId xmlns:r="http://schemas.openxmlformats.org/officeDocument/2006/relationships" id="258" r:id="R42fe2872c98a4221"/>
    <p:sldId xmlns:r="http://schemas.openxmlformats.org/officeDocument/2006/relationships" id="259" r:id="R6712b32047cd470a"/>
    <p:sldId xmlns:r="http://schemas.openxmlformats.org/officeDocument/2006/relationships" id="260" r:id="Re1244260b40c4616"/>
    <p:sldId xmlns:r="http://schemas.openxmlformats.org/officeDocument/2006/relationships" id="261" r:id="Rc744061f7ec24802"/>
    <p:sldId xmlns:r="http://schemas.openxmlformats.org/officeDocument/2006/relationships" id="262" r:id="R605d65ae2983429e"/>
    <p:sldId xmlns:r="http://schemas.openxmlformats.org/officeDocument/2006/relationships" id="263" r:id="R8b309308678d42e9"/>
    <p:sldId xmlns:r="http://schemas.openxmlformats.org/officeDocument/2006/relationships" id="264" r:id="R59ebc382a68e4a4c"/>
    <p:sldId xmlns:r="http://schemas.openxmlformats.org/officeDocument/2006/relationships" id="265" r:id="R53dfd8b0e474485a"/>
    <p:sldId xmlns:r="http://schemas.openxmlformats.org/officeDocument/2006/relationships" id="266" r:id="R301e57d5988045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21b7c2b65f41a0" /><Relationship Type="http://schemas.openxmlformats.org/officeDocument/2006/relationships/slideMaster" Target="/ppt/slideMasters/slideMaster1.xml" Id="R051e48e91df34ebb" /><Relationship Type="http://schemas.openxmlformats.org/officeDocument/2006/relationships/notesMaster" Target="/ppt/notesMasters/notesMaster1.xml" Id="R3f2fe836ce2a4973" /><Relationship Type="http://schemas.openxmlformats.org/officeDocument/2006/relationships/presProps" Target="/ppt/presProps.xml" Id="Rcf98f2f642da41ae" /><Relationship Type="http://schemas.openxmlformats.org/officeDocument/2006/relationships/tableStyles" Target="/ppt/tableStyles.xml" Id="Rb3a470074cab4464" /><Relationship Type="http://schemas.openxmlformats.org/officeDocument/2006/relationships/slide" Target="/ppt/slides/slide1.xml" Id="R9a6b4e81775d4bb7" /><Relationship Type="http://schemas.openxmlformats.org/officeDocument/2006/relationships/slide" Target="/ppt/slides/slide2.xml" Id="R32b451d59d4b4881" /><Relationship Type="http://schemas.openxmlformats.org/officeDocument/2006/relationships/slide" Target="/ppt/slides/slide3.xml" Id="R42fe2872c98a4221" /><Relationship Type="http://schemas.openxmlformats.org/officeDocument/2006/relationships/slide" Target="/ppt/slides/slide4.xml" Id="R6712b32047cd470a" /><Relationship Type="http://schemas.openxmlformats.org/officeDocument/2006/relationships/slide" Target="/ppt/slides/slide5.xml" Id="Re1244260b40c4616" /><Relationship Type="http://schemas.openxmlformats.org/officeDocument/2006/relationships/slide" Target="/ppt/slides/slide6.xml" Id="Rc744061f7ec24802" /><Relationship Type="http://schemas.openxmlformats.org/officeDocument/2006/relationships/slide" Target="/ppt/slides/slide7.xml" Id="R605d65ae2983429e" /><Relationship Type="http://schemas.openxmlformats.org/officeDocument/2006/relationships/slide" Target="/ppt/slides/slide8.xml" Id="R8b309308678d42e9" /><Relationship Type="http://schemas.openxmlformats.org/officeDocument/2006/relationships/slide" Target="/ppt/slides/slide9.xml" Id="R59ebc382a68e4a4c" /><Relationship Type="http://schemas.openxmlformats.org/officeDocument/2006/relationships/slide" Target="/ppt/slides/slide10.xml" Id="R53dfd8b0e474485a" /><Relationship Type="http://schemas.openxmlformats.org/officeDocument/2006/relationships/slide" Target="/ppt/slides/slide11.xml" Id="R301e57d5988045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a88488abae40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a84b1818ff4d94" /><Relationship Type="http://schemas.openxmlformats.org/officeDocument/2006/relationships/notesMaster" Target="/ppt/notesMasters/notesMaster1.xml" Id="R65b8df3f6030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b3cc2538cd400d" /><Relationship Type="http://schemas.openxmlformats.org/officeDocument/2006/relationships/notesMaster" Target="/ppt/notesMasters/notesMaster1.xml" Id="R18fdd41ecd174e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f927ce822c4e02" /><Relationship Type="http://schemas.openxmlformats.org/officeDocument/2006/relationships/notesMaster" Target="/ppt/notesMasters/notesMaster1.xml" Id="Rb2149758d19241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bf773f6a454a8e" /><Relationship Type="http://schemas.openxmlformats.org/officeDocument/2006/relationships/notesMaster" Target="/ppt/notesMasters/notesMaster1.xml" Id="Rdfeaa7a0ed5847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fd16315ca24b38" /><Relationship Type="http://schemas.openxmlformats.org/officeDocument/2006/relationships/notesMaster" Target="/ppt/notesMasters/notesMaster1.xml" Id="R964dda36ac3841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78dcfa23ef94093" /><Relationship Type="http://schemas.openxmlformats.org/officeDocument/2006/relationships/notesMaster" Target="/ppt/notesMasters/notesMaster1.xml" Id="R8929a85364414d0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3b06586dca4cff" /><Relationship Type="http://schemas.openxmlformats.org/officeDocument/2006/relationships/notesMaster" Target="/ppt/notesMasters/notesMaster1.xml" Id="Rd5dcbaec5c4d4c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ecb88fe61c4504" /><Relationship Type="http://schemas.openxmlformats.org/officeDocument/2006/relationships/notesMaster" Target="/ppt/notesMasters/notesMaster1.xml" Id="R89198adaab5443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2d98115b4b04555" /><Relationship Type="http://schemas.openxmlformats.org/officeDocument/2006/relationships/notesMaster" Target="/ppt/notesMasters/notesMaster1.xml" Id="Re928edf5fee945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cb022a20d142c9" /><Relationship Type="http://schemas.openxmlformats.org/officeDocument/2006/relationships/notesMaster" Target="/ppt/notesMasters/notesMaster1.xml" Id="R3f84defc72804e8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e540000b6241f4" /><Relationship Type="http://schemas.openxmlformats.org/officeDocument/2006/relationships/notesMaster" Target="/ppt/notesMasters/notesMaster1.xml" Id="Rb6a7dd018a2e48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발표의 목적은 현재 Eval을 과장하거나 폄하하지 않고, 구조적 성취와 실행상의 공백을 같은 그림에서 이해시키는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services/launchpilot-api/evals/README.md</a:t>
            </a:r>
          </a:p>
          <a:p xmlns:a="http://schemas.openxmlformats.org/drawingml/2006/main">
            <a:r>
              <a:t>- services/launchpilot-api/src/launchpilot/evaluation/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첫 장에서 결론을 고정합니다. 현재 구조는 평가 개념과 비교 방법은 갖췄지만, 평가를 실제로 수행하는 executor와 grader가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src/launchpilot/evaluation/controlled_runner.py: TrialExecutor, TrialGrader Protocol</a:t>
            </a:r>
          </a:p>
          <a:p xmlns:a="http://schemas.openxmlformats.org/drawingml/2006/main">
            <a:r>
              <a:t>- evals/runs/: no controlled run artifacts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전환은 미래 architecture가 현재 tool taxonomy에 묶이지 않게 합니다. taxonomy는 분석 변수일 뿐 routing truth가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src/launchpilot/evaluation/contracts/architecture_eval.py: ProblemRecord</a:t>
            </a:r>
          </a:p>
          <a:p xmlns:a="http://schemas.openxmlformats.org/drawingml/2006/main">
            <a:r>
              <a:t>- evals/datasets/marketing-ops-task-v1/problems/problems.jsonl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파일은 서로 다른 책임을 갖습니다. Problem과 Spec을 분리하는 것이 가장 중요하고, Reference는 절대 정답이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evals/datasets/marketing-ops-task-v1/manifest.json</a:t>
            </a:r>
          </a:p>
          <a:p xmlns:a="http://schemas.openxmlformats.org/drawingml/2006/main">
            <a:r>
              <a:t>- src/launchpilot/evaluation/task_dataset.py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예시는 Problem과 Eval Specification의 차이를 보여줍니다. 질문은 사용자 표현이고, information need와 required facts가 판정의 안정성을 만듭니다.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evals/datasets/marketing-ops-task-v1/problems/problems.jsonl: det_copy_c0001</a:t>
            </a:r>
          </a:p>
          <a:p xmlns:a="http://schemas.openxmlformats.org/drawingml/2006/main">
            <a:r>
              <a:t>- evals/datasets/marketing-ops-task-v1/specifications/eval-specifications.jsonl: det_copy_c0001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설계는 TREC qrels의 미판정 문서 문제를 반영합니다. 현재 121개 judgment는 완전한 relevance set이 아니라 알려진 seed입니다.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src/launchpilot/evaluation/contracts/architecture_eval.py: EvidenceJudgment</a:t>
            </a:r>
          </a:p>
          <a:p xmlns:a="http://schemas.openxmlformats.org/drawingml/2006/main">
            <a:r>
              <a:t>- evals/datasets/marketing-ops-task-v1/judgments/evidence-assessments.jsonl</a:t>
            </a:r>
          </a:p>
          <a:p xmlns:a="http://schemas.openxmlformats.org/drawingml/2006/main">
            <a:r>
              <a:t>- evals/datasets/marketing-ops-task-v1/references/answer-examples.jsonl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결과를 primary로 보되, retrieval과 agent process는 원인 진단에 사용합니다. 비용은 품질과 분리해 trade-off를 관찰합니다.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src/launchpilot/evaluation/contracts/architecture_eval.py: OutcomeScores, RetrievalDiagnostics, TrialRunResult</a:t>
            </a:r>
          </a:p>
          <a:p xmlns:a="http://schemas.openxmlformats.org/drawingml/2006/main">
            <a:r>
              <a:t>- src/launchpilot/evaluation/paired_comparison.py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수치가 많다는 사실과 benchmark로 신뢰할 수 있다는 사실은 다릅니다. 현재 manifest가 스스로 frontier이며 release-ready가 아니라고 선언합니다.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evals/datasets/marketing-ops-task-v1/manifest.json</a:t>
            </a:r>
          </a:p>
          <a:p xmlns:a="http://schemas.openxmlformats.org/drawingml/2006/main">
            <a:r>
              <a:t>- evals/datasets/marketing-ops-task-v1/problems/problems.jsonl</a:t>
            </a:r>
          </a:p>
          <a:p xmlns:a="http://schemas.openxmlformats.org/drawingml/2006/main">
            <a:r>
              <a:t>- evals/runs/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human review를 할 수 없다는 운영 제약과 현재 ReviewStatus/GraderKind가 충돌합니다. LLM Judge를 사람 검토로 위장하지 않고 별도 adjudication 상태로 모델링해야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src/launchpilot/evaluation/contracts/architecture_eval.py: ReviewStatus, GraderKind</a:t>
            </a:r>
          </a:p>
          <a:p xmlns:a="http://schemas.openxmlformats.org/drawingml/2006/main">
            <a:r>
              <a:t>- src/launchpilot/evaluation/controlled_runner.py: accepted_review_statuses, TrialGrader</a:t>
            </a:r>
          </a:p>
          <a:p xmlns:a="http://schemas.openxmlformats.org/drawingml/2006/main">
            <a:r>
              <a:t>- evals/datasets/marketing-ops-task-v1/specifications/eval-specifications.jsonl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구현은 평가 프레임워크를 확장하는 일이 아니라, 지금 있는 최소 구조를 실제 의사결정에 사용할 수 있게 만드는 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src/launchpilot/evaluation/controlled_runner.py</a:t>
            </a:r>
          </a:p>
          <a:p xmlns:a="http://schemas.openxmlformats.org/drawingml/2006/main">
            <a:r>
              <a:t>- src/launchpilot/evaluation/paired_comparison.py</a:t>
            </a:r>
          </a:p>
          <a:p xmlns:a="http://schemas.openxmlformats.org/drawingml/2006/main">
            <a:r>
              <a:t>- evals/datasets/registry.json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마무리에서는 Eval을 architecture의 부속물이 아니라 architecture 실험을 가능하게 하는 독립 관찰 장치로 정의합니다.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services/launchpilot-api/evals/README.md</a:t>
            </a:r>
          </a:p>
          <a:p xmlns:a="http://schemas.openxmlformats.org/drawingml/2006/main">
            <a:r>
              <a:t>- services/launchpilot-api/src/launchpilot/evaluation/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cede6b798b45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2d1771810a403e" /><Relationship Type="http://schemas.openxmlformats.org/officeDocument/2006/relationships/slideLayout" Target="/ppt/slideLayouts/slideLayout1.xml" Id="R5d5b9b76b7a645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5b9b76b7a645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1a0e2f052462a" /><Relationship Type="http://schemas.openxmlformats.org/officeDocument/2006/relationships/notesSlide" Target="/ppt/notesSlides/notesSlide1.xml" Id="Rd779f492ff594a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e871b0f424fe8" /><Relationship Type="http://schemas.openxmlformats.org/officeDocument/2006/relationships/notesSlide" Target="/ppt/notesSlides/notesSlide2.xml" Id="R6b12c53d435647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52997b32e44a18" /><Relationship Type="http://schemas.openxmlformats.org/officeDocument/2006/relationships/notesSlide" Target="/ppt/notesSlides/notesSlide3.xml" Id="R0dc42bab7a6d4a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5c443964a4ffb" /><Relationship Type="http://schemas.openxmlformats.org/officeDocument/2006/relationships/notesSlide" Target="/ppt/notesSlides/notesSlide4.xml" Id="R42e53d74378445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ce433d563469f" /><Relationship Type="http://schemas.openxmlformats.org/officeDocument/2006/relationships/notesSlide" Target="/ppt/notesSlides/notesSlide5.xml" Id="Rb78c0d96b2fc46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4b1ccd0354465" /><Relationship Type="http://schemas.openxmlformats.org/officeDocument/2006/relationships/notesSlide" Target="/ppt/notesSlides/notesSlide6.xml" Id="Rab0b458f1ab442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03be67cba47d8" /><Relationship Type="http://schemas.openxmlformats.org/officeDocument/2006/relationships/notesSlide" Target="/ppt/notesSlides/notesSlide7.xml" Id="R6f1bb5b879b94d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e4219311244e0" /><Relationship Type="http://schemas.openxmlformats.org/officeDocument/2006/relationships/notesSlide" Target="/ppt/notesSlides/notesSlide8.xml" Id="R02ae07ff3a37453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1b228b95c49b4" /><Relationship Type="http://schemas.openxmlformats.org/officeDocument/2006/relationships/notesSlide" Target="/ppt/notesSlides/notesSlide9.xml" Id="Re2858c495d1d43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e4335c0f5423b" /><Relationship Type="http://schemas.openxmlformats.org/officeDocument/2006/relationships/notesSlide" Target="/ppt/notesSlides/notesSlide10.xml" Id="R876bbbd019ca46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7e470765a4bd9" /><Relationship Type="http://schemas.openxmlformats.org/officeDocument/2006/relationships/notesSlide" Target="/ppt/notesSlides/notesSlide11.xml" Id="R511236c9c6b141a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1A17EB1B-3C05-4B77-8024-E8C42EBD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· ARCHITECTURE EVALUATION</a:t>
            </a:r>
          </a:p>
        </p:txBody>
      </p:sp>
      <p:sp>
        <p:nvSpPr>
          <p:cNvPr id="2" name="box-2">
            <a:extLst xmlns:a="http://schemas.openxmlformats.org/drawingml/2006/main">
              <a:ext uri="{FF2B5EF4-FFF2-40B4-BE49-F238E27FC236}">
                <a16:creationId xmlns:a16="http://schemas.microsoft.com/office/drawing/2014/main" id="{F9DC0D7D-5BF4-435F-AE67-F356A4FE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95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BD5A309-FCD0-44B1-BCD3-B809165F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현재 Eval 시스템</a:t>
            </a:r>
          </a:p>
          <a:p xmlns:a="http://schemas.openxmlformats.org/drawingml/2006/main">
            <a:pPr algn="l">
              <a:defRPr sz="4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핸드오프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CBEDEFC-E5D0-49F4-AA3A-9FA13EC8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10050"/>
            <a:ext cx="733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Task 중심 데이터셋에서 실제 LLM 판정까지</a:t>
            </a:r>
          </a:p>
          <a:p xmlns:a="http://schemas.openxmlformats.org/drawingml/2006/main">
            <a:pPr algn="l">
              <a:defRPr sz="21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무엇이 완성됐고 무엇이 남았는가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116C1EE-0CBF-4616-8049-32D5B354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2026.08.30</a:t>
            </a:r>
          </a:p>
        </p:txBody>
      </p:sp>
    </p:spTree>
    <p:extLst>
      <p:ext uri="{BB962C8B-B14F-4D97-AF65-F5344CB8AC3E}">
        <p14:creationId xmlns:p14="http://schemas.microsoft.com/office/powerpoint/2010/main" val="14911850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B5CED70A-C203-4842-A846-71CB4022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61F01A2-F6B2-4A56-A575-DA409CA6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현재 Eval은 좋은 골격이지만, 아직 작동하는 판정 시스템은 아니다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C5D30149-1D51-4603-9957-4C1D1605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box-5">
            <a:extLst xmlns:a="http://schemas.openxmlformats.org/drawingml/2006/main">
              <a:ext uri="{FF2B5EF4-FFF2-40B4-BE49-F238E27FC236}">
                <a16:creationId xmlns:a16="http://schemas.microsoft.com/office/drawing/2014/main" id="{A2067735-98CF-40B7-AAA6-5B2903D5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box-6">
            <a:extLst xmlns:a="http://schemas.openxmlformats.org/drawingml/2006/main">
              <a:ext uri="{FF2B5EF4-FFF2-40B4-BE49-F238E27FC236}">
                <a16:creationId xmlns:a16="http://schemas.microsoft.com/office/drawing/2014/main" id="{96F876DF-4B44-4663-BC10-BCD590E4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D6F"/>
          </a:solidFill>
          <a:ln xmlns:a="http://schemas.openxmlformats.org/drawingml/2006/main" w="0">
            <a:solidFill>
              <a:srgbClr val="3A9D6F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9880DAF-8B75-4632-888E-981A02EB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문제 정의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5441B6B3-F2A2-4802-9878-D4463740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9D6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A9D6F"/>
                </a:solidFill>
                <a:latin typeface="Arial"/>
                <a:ea typeface="Arial"/>
                <a:cs typeface="Arial"/>
              </a:rPr>
              <a:t>완성</a:t>
            </a:r>
          </a:p>
        </p:txBody>
      </p:sp>
      <p:sp>
        <p:nvSpPr>
          <p:cNvPr id="9" name="box-9">
            <a:extLst xmlns:a="http://schemas.openxmlformats.org/drawingml/2006/main">
              <a:ext uri="{FF2B5EF4-FFF2-40B4-BE49-F238E27FC236}">
                <a16:creationId xmlns:a16="http://schemas.microsoft.com/office/drawing/2014/main" id="{7625D13F-148D-48A0-99D8-E88D2EC5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1455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0" name="box-10">
            <a:extLst xmlns:a="http://schemas.openxmlformats.org/drawingml/2006/main">
              <a:ext uri="{FF2B5EF4-FFF2-40B4-BE49-F238E27FC236}">
                <a16:creationId xmlns:a16="http://schemas.microsoft.com/office/drawing/2014/main" id="{D789B89B-46AC-4A2E-8798-3C6E31B8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1455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D6F"/>
          </a:solidFill>
          <a:ln xmlns:a="http://schemas.openxmlformats.org/drawingml/2006/main" w="0">
            <a:solidFill>
              <a:srgbClr val="3A9D6F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98C3FD21-7DBD-4F04-B6BE-2644105F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28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성공 기준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F3C42F2C-87E5-4B0D-98FF-E4404673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1432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9D6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A9D6F"/>
                </a:solidFill>
                <a:latin typeface="Arial"/>
                <a:ea typeface="Arial"/>
                <a:cs typeface="Arial"/>
              </a:rPr>
              <a:t>완성</a:t>
            </a:r>
          </a:p>
        </p:txBody>
      </p:sp>
      <p:sp>
        <p:nvSpPr>
          <p:cNvPr id="13" name="box-13">
            <a:extLst xmlns:a="http://schemas.openxmlformats.org/drawingml/2006/main">
              <a:ext uri="{FF2B5EF4-FFF2-40B4-BE49-F238E27FC236}">
                <a16:creationId xmlns:a16="http://schemas.microsoft.com/office/drawing/2014/main" id="{D4B8CE54-8AAD-4915-A030-A6DD74EF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4" name="box-14">
            <a:extLst xmlns:a="http://schemas.openxmlformats.org/drawingml/2006/main">
              <a:ext uri="{FF2B5EF4-FFF2-40B4-BE49-F238E27FC236}">
                <a16:creationId xmlns:a16="http://schemas.microsoft.com/office/drawing/2014/main" id="{81802DE6-9183-44AD-9CFF-E35470D9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401B3FF3-9A22-4C79-8047-408AF7A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28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통제 실행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312C5D5D-B3E8-479C-B780-A8A79749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인터페이스</a:t>
            </a:r>
          </a:p>
        </p:txBody>
      </p:sp>
      <p:sp>
        <p:nvSpPr>
          <p:cNvPr id="17" name="box-17">
            <a:extLst xmlns:a="http://schemas.openxmlformats.org/drawingml/2006/main">
              <a:ext uri="{FF2B5EF4-FFF2-40B4-BE49-F238E27FC236}">
                <a16:creationId xmlns:a16="http://schemas.microsoft.com/office/drawing/2014/main" id="{69DA1912-6745-46F2-A946-D95CF2B1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1455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8" name="box-18">
            <a:extLst xmlns:a="http://schemas.openxmlformats.org/drawingml/2006/main">
              <a:ext uri="{FF2B5EF4-FFF2-40B4-BE49-F238E27FC236}">
                <a16:creationId xmlns:a16="http://schemas.microsoft.com/office/drawing/2014/main" id="{F404C877-5078-4323-9DD2-48CED231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1455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solidFill>
              <a:srgbClr val="D95C59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E6CF8DAF-D56F-4E02-A3F2-B6B0521F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428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실제 채점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4C51AC4D-47FF-4D5E-A749-E1472937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432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5C59"/>
                </a:solidFill>
                <a:latin typeface="Arial"/>
                <a:ea typeface="Arial"/>
                <a:cs typeface="Arial"/>
              </a:rPr>
              <a:t>미구현</a:t>
            </a:r>
          </a:p>
        </p:txBody>
      </p:sp>
      <p:sp>
        <p:nvSpPr>
          <p:cNvPr id="21" name="box-21">
            <a:extLst xmlns:a="http://schemas.openxmlformats.org/drawingml/2006/main">
              <a:ext uri="{FF2B5EF4-FFF2-40B4-BE49-F238E27FC236}">
                <a16:creationId xmlns:a16="http://schemas.microsoft.com/office/drawing/2014/main" id="{82A6E69C-A9CE-4D6C-B356-E3FE60B1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14550"/>
            <a:ext cx="1952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2" name="box-22">
            <a:extLst xmlns:a="http://schemas.openxmlformats.org/drawingml/2006/main">
              <a:ext uri="{FF2B5EF4-FFF2-40B4-BE49-F238E27FC236}">
                <a16:creationId xmlns:a16="http://schemas.microsoft.com/office/drawing/2014/main" id="{E25CF6A5-F046-4A02-9276-AA644518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14550"/>
            <a:ext cx="19526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D6F"/>
          </a:solidFill>
          <a:ln xmlns:a="http://schemas.openxmlformats.org/drawingml/2006/main" w="0">
            <a:solidFill>
              <a:srgbClr val="3A9D6F"/>
            </a:solidFill>
            <a:prstDash val="solid"/>
          </a:ln>
        </p:spPr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7BB73DCE-38E1-49D5-8694-E55B18CB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28875"/>
            <a:ext cx="1609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버전 비교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3B8FCC20-EC29-4DAE-8FAC-720843A0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143250"/>
            <a:ext cx="16097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A9D6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A9D6F"/>
                </a:solidFill>
                <a:latin typeface="Arial"/>
                <a:ea typeface="Arial"/>
                <a:cs typeface="Arial"/>
              </a:rPr>
              <a:t>완성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975CD810-AA8C-47FD-AA69-31934ACB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정확한 표현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F1EBCBF8-918B-4A68-9449-612E2267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architecture-independent dataset + controlled experiment substrate</a:t>
            </a:r>
          </a:p>
        </p:txBody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B56FD06B-EDA2-4FDD-B2F2-7B7256C0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실제 Agent 실행 adapter와 LLM Judge가 연결되어야 ‘운영 가능한 Eval’이 된다.</a:t>
            </a:r>
          </a:p>
        </p:txBody>
      </p:sp>
    </p:spTree>
    <p:extLst>
      <p:ext uri="{BB962C8B-B14F-4D97-AF65-F5344CB8AC3E}">
        <p14:creationId xmlns:p14="http://schemas.microsoft.com/office/powerpoint/2010/main" val="19213425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EEFE06F7-A870-4F1B-ABFA-DD73AB86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D3D794-A0E4-4FBB-B93C-8B6627A7C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평가의 기준을 ‘어떤 도구를 썼는가’에서 ‘문제를 풀었는가’로 옮겼다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0CF85BF-48AC-4728-82DE-C18F3B90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889CA0C-951D-4DE1-BFE0-336E7B02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이전 관점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9469FE1-52D4-4DF8-A9E1-A3DAF1920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현재 관점</a:t>
            </a:r>
          </a:p>
        </p:txBody>
      </p:sp>
      <p:sp>
        <p:nvSpPr>
          <p:cNvPr id="7" name="box-7">
            <a:extLst xmlns:a="http://schemas.openxmlformats.org/drawingml/2006/main">
              <a:ext uri="{FF2B5EF4-FFF2-40B4-BE49-F238E27FC236}">
                <a16:creationId xmlns:a16="http://schemas.microsoft.com/office/drawing/2014/main" id="{56BB5F81-F93D-4200-AF23-74106D91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0"/>
            <a:ext cx="4857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8" name="box-8">
            <a:extLst xmlns:a="http://schemas.openxmlformats.org/drawingml/2006/main">
              <a:ext uri="{FF2B5EF4-FFF2-40B4-BE49-F238E27FC236}">
                <a16:creationId xmlns:a16="http://schemas.microsoft.com/office/drawing/2014/main" id="{44A2C43C-85F6-4679-8FB2-92CB508E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86000"/>
            <a:ext cx="5238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2A48B4E1-3378-4884-AFB4-C508E0AD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4000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BM25 query</a:t>
            </a:r>
          </a:p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Dense query</a:t>
            </a:r>
          </a:p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Graph query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0B548E9-37B9-44D1-9518-6E59D052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14625"/>
            <a:ext cx="4476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사용자 문제</a:t>
            </a:r>
          </a:p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정보 요구</a:t>
            </a:r>
          </a:p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+ 성공 조건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ADEF489-5C0E-42B9-9870-0ED1EC44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9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5C59"/>
                </a:solidFill>
                <a:latin typeface="Arial"/>
                <a:ea typeface="Arial"/>
                <a:cs typeface="Arial"/>
              </a:rPr>
              <a:t>도구가 정답 ontology가 됨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839CABDF-2AD3-479C-8172-C612A9DD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19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9D6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A9D6F"/>
                </a:solidFill>
                <a:latin typeface="Arial"/>
                <a:ea typeface="Arial"/>
                <a:cs typeface="Arial"/>
              </a:rPr>
              <a:t>도구 선택은 시스템의 자유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8184C5F8-8A02-483D-B9ED-E546868E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그래서 BM25 → Graph로 회복해도 outcome은 성공으로 평가할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0502550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">
            <a:extLst xmlns:a="http://schemas.openxmlformats.org/drawingml/2006/main">
              <a:ext uri="{FF2B5EF4-FFF2-40B4-BE49-F238E27FC236}">
                <a16:creationId xmlns:a16="http://schemas.microsoft.com/office/drawing/2014/main" id="{EF2CF9F7-3134-4B31-9E98-1CEA4A4B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DBD5F14-FB08-4E50-9CCA-EFE5EA6F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Dataset은 ‘세계–문제–성공 기준–판정 자료’로 읽는다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2CADE6C4-E808-4200-90B6-0255D9C6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2209800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4495800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6781800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4" name=""/>
          <p:cNvCxnSpPr/>
          <p:nvPr/>
        </p:nvCxnSpPr>
        <p:spPr>
          <a:xfrm xmlns:a="http://schemas.openxmlformats.org/drawingml/2006/main">
            <a:off x="9067800" y="3238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9" name="box-9">
            <a:extLst xmlns:a="http://schemas.openxmlformats.org/drawingml/2006/main">
              <a:ext uri="{FF2B5EF4-FFF2-40B4-BE49-F238E27FC236}">
                <a16:creationId xmlns:a16="http://schemas.microsoft.com/office/drawing/2014/main" id="{9ACDED64-E490-453B-B0EB-C40FD254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F77C9E00-8716-46F7-ACCB-FD1D4F3F8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WORLD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2B29859D-164F-4C36-ABDD-1FC72160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670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답이 존재하는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사실 세계</a:t>
            </a:r>
          </a:p>
        </p:txBody>
      </p:sp>
      <p:sp>
        <p:nvSpPr>
          <p:cNvPr id="12" name="box-12">
            <a:extLst xmlns:a="http://schemas.openxmlformats.org/drawingml/2006/main">
              <a:ext uri="{FF2B5EF4-FFF2-40B4-BE49-F238E27FC236}">
                <a16:creationId xmlns:a16="http://schemas.microsoft.com/office/drawing/2014/main" id="{E2D2E6FF-E3FE-45DC-ADC2-DDA745CD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336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E1E58B3B-814B-49CA-8E5C-F5F2865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5717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54EBB5EA-93BE-4F10-8AD3-7EC31DD4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670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사용자가 해결하려는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실제 정보 요구</a:t>
            </a:r>
          </a:p>
        </p:txBody>
      </p:sp>
      <p:sp>
        <p:nvSpPr>
          <p:cNvPr id="15" name="box-15">
            <a:extLst xmlns:a="http://schemas.openxmlformats.org/drawingml/2006/main">
              <a:ext uri="{FF2B5EF4-FFF2-40B4-BE49-F238E27FC236}">
                <a16:creationId xmlns:a16="http://schemas.microsoft.com/office/drawing/2014/main" id="{1F76FDFA-3EF7-441E-9FFA-8ED34FC2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336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77C51CF7-A539-4A95-89F0-97BF1A15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717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SPEC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26B18EAF-7110-4807-A47B-7C3DFAB9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670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성공을 판단하는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required facts와 behavior</a:t>
            </a:r>
          </a:p>
        </p:txBody>
      </p:sp>
      <p:sp>
        <p:nvSpPr>
          <p:cNvPr id="18" name="box-18">
            <a:extLst xmlns:a="http://schemas.openxmlformats.org/drawingml/2006/main">
              <a:ext uri="{FF2B5EF4-FFF2-40B4-BE49-F238E27FC236}">
                <a16:creationId xmlns:a16="http://schemas.microsoft.com/office/drawing/2014/main" id="{FBFD8C18-7218-48A3-896D-CD78BFC5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336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C41D684B-1BE9-42E0-9F7C-C8DE15A1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717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JUDGMENT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44EBA266-89E7-41D4-A3BB-1C7A7681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670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known relevant /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irrelevant / unjudged</a:t>
            </a:r>
          </a:p>
        </p:txBody>
      </p:sp>
      <p:sp>
        <p:nvSpPr>
          <p:cNvPr id="21" name="box-21">
            <a:extLst xmlns:a="http://schemas.openxmlformats.org/drawingml/2006/main">
              <a:ext uri="{FF2B5EF4-FFF2-40B4-BE49-F238E27FC236}">
                <a16:creationId xmlns:a16="http://schemas.microsoft.com/office/drawing/2014/main" id="{85DC3192-EDCC-4916-A4A5-F3E0BC41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1809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4124AA5C-442C-48E1-845E-059FB187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717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58A8668C-F796-4634-956C-224A2F32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67050"/>
            <a:ext cx="150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표현 참고용 답변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채점 권위는 없음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CFF08AA7-1F5B-4E21-9BCE-77A35113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물리적 위치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00A671DC-28B7-402E-9E5A-8ED92C74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evals/datasets/marketing-ops-task-v1/</a:t>
            </a:r>
          </a:p>
        </p:txBody>
      </p:sp>
      <p:sp>
        <p:nvSpPr>
          <p:cNvPr id="26" name="text-26">
            <a:extLst xmlns:a="http://schemas.openxmlformats.org/drawingml/2006/main">
              <a:ext uri="{FF2B5EF4-FFF2-40B4-BE49-F238E27FC236}">
                <a16:creationId xmlns:a16="http://schemas.microsoft.com/office/drawing/2014/main" id="{1C949170-2C2F-4CE3-A7C2-8C598CD8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150 problems · 150 specifications · 121 evidence judgments · 150 answer examples</a:t>
            </a:r>
          </a:p>
        </p:txBody>
      </p:sp>
    </p:spTree>
    <p:extLst>
      <p:ext uri="{BB962C8B-B14F-4D97-AF65-F5344CB8AC3E}">
        <p14:creationId xmlns:p14="http://schemas.microsoft.com/office/powerpoint/2010/main" val="138729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">
            <a:extLst xmlns:a="http://schemas.openxmlformats.org/drawingml/2006/main">
              <a:ext uri="{FF2B5EF4-FFF2-40B4-BE49-F238E27FC236}">
                <a16:creationId xmlns:a16="http://schemas.microsoft.com/office/drawing/2014/main" id="{398E2EBF-23DB-41ED-8096-3FEAB256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C0E8005-287D-48ED-9E4B-B2818A79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한 문제는 ‘질문’보다 더 넓은 평가 단위다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CCACE45-354C-4294-B18E-F9A7CD51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box-5">
            <a:extLst xmlns:a="http://schemas.openxmlformats.org/drawingml/2006/main">
              <a:ext uri="{FF2B5EF4-FFF2-40B4-BE49-F238E27FC236}">
                <a16:creationId xmlns:a16="http://schemas.microsoft.com/office/drawing/2014/main" id="{11C92017-8008-4512-A761-2C246AF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28800"/>
            <a:ext cx="48577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982EAD4-3283-4276-8A8B-B70E47F2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USER UTTERANCE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85A1E4D-5CBA-4BBF-B6CF-4BE9ADDA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“C0001 캠페인의 긴급 카피</a:t>
            </a:r>
          </a:p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변경 내용을 알려줘”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27BAD35-A351-4824-92C3-BF41549B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INFORMATION NEED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BA4A441F-2B94-4736-AD02-2DAE3489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반응 저하의 원인과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실제 변경 조치를 확인한다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F3BE5B0B-7CC7-4D96-9D3F-6F36F1C8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SUPPLIED CONTEXT · active_campaign_id=C0001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1BE8B1DB-E063-449B-BD59-7227E44B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924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성공 기준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153150" y="23812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A07A36A4-16C9-4D9A-BC32-7B6A047B4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860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29C73104-2E54-453F-B3D5-6BF9F8679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68C8D5BB-E175-4D48-94B8-F1D8D0DE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670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헤드라인 반응 저하 또는 피로 현상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29803D0A-3914-435B-ABAF-B7405337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290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6EC6ACFE-DEA5-423B-A871-3097044A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1A33FBB6-9ECC-498F-BA67-270829A1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10050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할인 혜택 강조 카피 C안으로 변경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90B880C1-42D8-4F95-894B-3A74D708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1435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A9D6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A9D6F"/>
                </a:solidFill>
                <a:latin typeface="Arial"/>
                <a:ea typeface="Arial"/>
                <a:cs typeface="Arial"/>
              </a:rPr>
              <a:t>Expected behavior · answer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1B125150-A0B3-45F8-8800-4F7013CD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5721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어떤 tool을 호출할지는 명시하지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076841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653F97C2-B310-47AA-ACFA-E3EFA9B1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4ED74C-23B9-49AA-B1E5-7D4870E2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Gold evidence가 불완전하다는 사실을 데이터 모델에 보존했다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9C41551-91E8-4D52-87A2-9AF41B2F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box-5">
            <a:extLst xmlns:a="http://schemas.openxmlformats.org/drawingml/2006/main">
              <a:ext uri="{FF2B5EF4-FFF2-40B4-BE49-F238E27FC236}">
                <a16:creationId xmlns:a16="http://schemas.microsoft.com/office/drawing/2014/main" id="{C0F7F59E-4AD7-42A0-8EB1-C540C185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52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box-6">
            <a:extLst xmlns:a="http://schemas.openxmlformats.org/drawingml/2006/main">
              <a:ext uri="{FF2B5EF4-FFF2-40B4-BE49-F238E27FC236}">
                <a16:creationId xmlns:a16="http://schemas.microsoft.com/office/drawing/2014/main" id="{F0E08BFF-37C4-44FD-8994-0736AFA7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D6F"/>
          </a:solidFill>
          <a:ln xmlns:a="http://schemas.openxmlformats.org/drawingml/2006/main" w="0">
            <a:solidFill>
              <a:srgbClr val="3A9D6F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06A2D10-F32E-4C91-99A1-50D5CD2F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A9D6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A9D6F"/>
                </a:solidFill>
                <a:latin typeface="Arial"/>
                <a:ea typeface="Arial"/>
                <a:cs typeface="Arial"/>
              </a:rPr>
              <a:t>KNOWN RELEVANT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34CD6354-EA4B-4452-A224-056DE816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검토된 관련 증거</a:t>
            </a:r>
          </a:p>
        </p:txBody>
      </p:sp>
      <p:sp>
        <p:nvSpPr>
          <p:cNvPr id="9" name="box-9">
            <a:extLst xmlns:a="http://schemas.openxmlformats.org/drawingml/2006/main">
              <a:ext uri="{FF2B5EF4-FFF2-40B4-BE49-F238E27FC236}">
                <a16:creationId xmlns:a16="http://schemas.microsoft.com/office/drawing/2014/main" id="{DB043A97-5F43-4B34-BF8A-DF5E1BE3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52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0" name="box-10">
            <a:extLst xmlns:a="http://schemas.openxmlformats.org/drawingml/2006/main">
              <a:ext uri="{FF2B5EF4-FFF2-40B4-BE49-F238E27FC236}">
                <a16:creationId xmlns:a16="http://schemas.microsoft.com/office/drawing/2014/main" id="{314D4540-3959-4A5B-98F5-4434A653E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9075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solidFill>
              <a:srgbClr val="D95C59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0C95EAE0-86C0-4740-B060-16909E01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5C59"/>
                </a:solidFill>
                <a:latin typeface="Arial"/>
                <a:ea typeface="Arial"/>
                <a:cs typeface="Arial"/>
              </a:rPr>
              <a:t>KNOWN IRRELEVANT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C5BF7DF2-CBC9-4FF5-8066-60C5977F3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432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검토된 비관련 증거</a:t>
            </a:r>
          </a:p>
        </p:txBody>
      </p:sp>
      <p:sp>
        <p:nvSpPr>
          <p:cNvPr id="13" name="box-13">
            <a:extLst xmlns:a="http://schemas.openxmlformats.org/drawingml/2006/main">
              <a:ext uri="{FF2B5EF4-FFF2-40B4-BE49-F238E27FC236}">
                <a16:creationId xmlns:a16="http://schemas.microsoft.com/office/drawing/2014/main" id="{DC7BECA4-4A8C-4B91-AB8C-30A1041F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52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4" name="box-14">
            <a:extLst xmlns:a="http://schemas.openxmlformats.org/drawingml/2006/main">
              <a:ext uri="{FF2B5EF4-FFF2-40B4-BE49-F238E27FC236}">
                <a16:creationId xmlns:a16="http://schemas.microsoft.com/office/drawing/2014/main" id="{B9CADFA0-BDDA-4DB0-BB3C-23B30D6A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190750"/>
            <a:ext cx="3524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829AC652-5635-4823-B6B7-827E8261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71750"/>
            <a:ext cx="3105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UNJUDGED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1A6C2B85-67E7-4162-B063-57AFEEB7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아직 판단하지 않은 증거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27CED0A8-DFD1-4352-A633-85F2E70F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1114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새 retriever가 기존 gold에 없는 좋은 evidence를 찾아도 자동 실패시키지 않는다.</a:t>
            </a:r>
          </a:p>
        </p:txBody>
      </p:sp>
      <p:sp>
        <p:nvSpPr>
          <p:cNvPr id="18" name="box-18">
            <a:extLst xmlns:a="http://schemas.openxmlformats.org/drawingml/2006/main">
              <a:ext uri="{FF2B5EF4-FFF2-40B4-BE49-F238E27FC236}">
                <a16:creationId xmlns:a16="http://schemas.microsoft.com/office/drawing/2014/main" id="{0B3BAD64-8D78-4F4E-BE66-EEB26651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38800"/>
            <a:ext cx="11144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F938451E-48D8-4620-BD2E-A6E326D2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4357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Reference answer: grading_authority=false → 표현 예시일 뿐 정답 ontology가 아님</a:t>
            </a:r>
          </a:p>
        </p:txBody>
      </p:sp>
    </p:spTree>
    <p:extLst>
      <p:ext uri="{BB962C8B-B14F-4D97-AF65-F5344CB8AC3E}">
        <p14:creationId xmlns:p14="http://schemas.microsoft.com/office/powerpoint/2010/main" val="20093320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BDEE2E38-24CA-4C2C-8E4A-1D96700F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BC5499D-5A0A-4965-9E79-4BA3B5F3F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실행 결과는 답·검색·행동·비용을 한 점수로 뭉개지 않는다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38987B3-1C5B-452B-BD92-6EE5606E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box-5">
            <a:extLst xmlns:a="http://schemas.openxmlformats.org/drawingml/2006/main">
              <a:ext uri="{FF2B5EF4-FFF2-40B4-BE49-F238E27FC236}">
                <a16:creationId xmlns:a16="http://schemas.microsoft.com/office/drawing/2014/main" id="{5B914A41-E4C5-4FAE-8637-95D462FA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box-6">
            <a:extLst xmlns:a="http://schemas.openxmlformats.org/drawingml/2006/main">
              <a:ext uri="{FF2B5EF4-FFF2-40B4-BE49-F238E27FC236}">
                <a16:creationId xmlns:a16="http://schemas.microsoft.com/office/drawing/2014/main" id="{AFEA1779-670B-4BEB-B195-C0CF8F0A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9BB6172-75A3-452A-B0E7-F21107B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9D24FE4-8235-49AE-B53E-34DEF5E5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2228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success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fact coverage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groundedness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answer relevance</a:t>
            </a:r>
          </a:p>
        </p:txBody>
      </p:sp>
      <p:sp>
        <p:nvSpPr>
          <p:cNvPr id="9" name="box-9">
            <a:extLst xmlns:a="http://schemas.openxmlformats.org/drawingml/2006/main">
              <a:ext uri="{FF2B5EF4-FFF2-40B4-BE49-F238E27FC236}">
                <a16:creationId xmlns:a16="http://schemas.microsoft.com/office/drawing/2014/main" id="{7E9F2030-C5D1-4913-A3AE-1A6388EF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95500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0" name="box-10">
            <a:extLst xmlns:a="http://schemas.openxmlformats.org/drawingml/2006/main">
              <a:ext uri="{FF2B5EF4-FFF2-40B4-BE49-F238E27FC236}">
                <a16:creationId xmlns:a16="http://schemas.microsoft.com/office/drawing/2014/main" id="{7250A61C-3B1B-44F8-B7D5-C4DDC553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955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9D6F"/>
          </a:solidFill>
          <a:ln xmlns:a="http://schemas.openxmlformats.org/drawingml/2006/main" w="0">
            <a:solidFill>
              <a:srgbClr val="3A9D6F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367DE80-0054-4FF2-BDF6-C225FCB3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2887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A9D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A9D6F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4B05E88D-9825-4313-AF86-A1289C38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009900"/>
            <a:ext cx="2228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known recall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judged precision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unjudged@k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answer-bearing evidence</a:t>
            </a:r>
          </a:p>
        </p:txBody>
      </p:sp>
      <p:sp>
        <p:nvSpPr>
          <p:cNvPr id="13" name="box-13">
            <a:extLst xmlns:a="http://schemas.openxmlformats.org/drawingml/2006/main">
              <a:ext uri="{FF2B5EF4-FFF2-40B4-BE49-F238E27FC236}">
                <a16:creationId xmlns:a16="http://schemas.microsoft.com/office/drawing/2014/main" id="{BEB6E1F5-4AAF-41F4-A965-88B6D54A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4" name="box-14">
            <a:extLst xmlns:a="http://schemas.openxmlformats.org/drawingml/2006/main">
              <a:ext uri="{FF2B5EF4-FFF2-40B4-BE49-F238E27FC236}">
                <a16:creationId xmlns:a16="http://schemas.microsoft.com/office/drawing/2014/main" id="{89BBD420-7D0D-49FC-A717-BE4B91BF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solidFill>
              <a:srgbClr val="F2B84B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7441029A-CBEF-49D0-AE9F-9F175CDD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AGENT PROCESS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BBD1F110-9FEE-431F-987B-3FEB0C29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09900"/>
            <a:ext cx="2228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 sequence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routing·recovery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redundant calls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premature stop</a:t>
            </a:r>
          </a:p>
        </p:txBody>
      </p:sp>
      <p:sp>
        <p:nvSpPr>
          <p:cNvPr id="17" name="box-17">
            <a:extLst xmlns:a="http://schemas.openxmlformats.org/drawingml/2006/main">
              <a:ext uri="{FF2B5EF4-FFF2-40B4-BE49-F238E27FC236}">
                <a16:creationId xmlns:a16="http://schemas.microsoft.com/office/drawing/2014/main" id="{96E42510-A066-420C-BC69-EAFD6C78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571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8" name="box-18">
            <a:extLst xmlns:a="http://schemas.openxmlformats.org/drawingml/2006/main">
              <a:ext uri="{FF2B5EF4-FFF2-40B4-BE49-F238E27FC236}">
                <a16:creationId xmlns:a16="http://schemas.microsoft.com/office/drawing/2014/main" id="{A65B7893-D3E9-4421-9936-4B796DCF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571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9"/>
          </a:solidFill>
          <a:ln xmlns:a="http://schemas.openxmlformats.org/drawingml/2006/main" w="0">
            <a:solidFill>
              <a:srgbClr val="D95C59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38CA15A1-7DB3-4A0A-BC53-E9654DF0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28875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5C59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5E87AE8C-6D16-43ED-83AE-DCCB06412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09900"/>
            <a:ext cx="22288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latency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tool calls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tokens·context</a:t>
            </a:r>
          </a:p>
          <a:p xmlns:a="http://schemas.openxmlformats.org/drawingml/2006/main">
            <a:pPr algn="l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cost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FF6BA560-ED22-44BF-84A9-8355B4F1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예: BM25 → evidence 부족 → Graph → 정답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55432FCB-2574-43D9-A479-8D2040AC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Outcome 성공 · Recovery 성공 · Initial routing 저하 · Efficiency 저하</a:t>
            </a:r>
          </a:p>
        </p:txBody>
      </p:sp>
    </p:spTree>
    <p:extLst>
      <p:ext uri="{BB962C8B-B14F-4D97-AF65-F5344CB8AC3E}">
        <p14:creationId xmlns:p14="http://schemas.microsoft.com/office/powerpoint/2010/main" val="18817850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">
            <a:extLst xmlns:a="http://schemas.openxmlformats.org/drawingml/2006/main">
              <a:ext uri="{FF2B5EF4-FFF2-40B4-BE49-F238E27FC236}">
                <a16:creationId xmlns:a16="http://schemas.microsoft.com/office/drawing/2014/main" id="{0DFD67EC-F02B-4927-A6FE-8F55B44B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3DB990D-D92A-4340-BAEA-9476EDD1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데이터는 존재하지만 release benchmark로 사용할 준비는 되지 않았다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0CB23DD-51EB-4752-AC39-C0AC97CF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box-5">
            <a:extLst xmlns:a="http://schemas.openxmlformats.org/drawingml/2006/main">
              <a:ext uri="{FF2B5EF4-FFF2-40B4-BE49-F238E27FC236}">
                <a16:creationId xmlns:a16="http://schemas.microsoft.com/office/drawing/2014/main" id="{896FBF82-F650-41E3-8B80-F6256D94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0D784DD-3FA9-4175-8ADC-39F30565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28875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1A9C78B-1B6F-4375-9F25-BF3FBBE3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Problems</a:t>
            </a:r>
          </a:p>
        </p:txBody>
      </p:sp>
      <p:sp>
        <p:nvSpPr>
          <p:cNvPr id="8" name="box-8">
            <a:extLst xmlns:a="http://schemas.openxmlformats.org/drawingml/2006/main">
              <a:ext uri="{FF2B5EF4-FFF2-40B4-BE49-F238E27FC236}">
                <a16:creationId xmlns:a16="http://schemas.microsoft.com/office/drawing/2014/main" id="{AE6B0B0D-BB71-465D-8443-591D2120F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09550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F04B9D9-63FB-406E-AF6D-AD530DB1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428875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150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436C6292-8770-44FF-B72E-9E39AAE6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6671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Specifications</a:t>
            </a:r>
          </a:p>
        </p:txBody>
      </p:sp>
      <p:sp>
        <p:nvSpPr>
          <p:cNvPr id="11" name="box-11">
            <a:extLst xmlns:a="http://schemas.openxmlformats.org/drawingml/2006/main">
              <a:ext uri="{FF2B5EF4-FFF2-40B4-BE49-F238E27FC236}">
                <a16:creationId xmlns:a16="http://schemas.microsoft.com/office/drawing/2014/main" id="{6FC6BB61-4556-45C6-BBE2-952280C0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11D54734-57C7-4B5C-92FA-BA521335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28875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2B84B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101F26EB-39A9-4414-8DDC-DD90CC9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671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Evidence judgments</a:t>
            </a:r>
          </a:p>
        </p:txBody>
      </p:sp>
      <p:sp>
        <p:nvSpPr>
          <p:cNvPr id="14" name="box-14">
            <a:extLst xmlns:a="http://schemas.openxmlformats.org/drawingml/2006/main">
              <a:ext uri="{FF2B5EF4-FFF2-40B4-BE49-F238E27FC236}">
                <a16:creationId xmlns:a16="http://schemas.microsoft.com/office/drawing/2014/main" id="{97F0DE62-834B-4619-A94F-FD3DFFF0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571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2FE21D40-6EFC-4F5B-9B72-EF1202E8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428875"/>
            <a:ext cx="22288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D95C59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7E8CD056-84E2-422E-A291-ECBA7D41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67125"/>
            <a:ext cx="2228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runs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5B6A2D00-A837-4C98-AC4D-119CA578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manifest</a:t>
            </a:r>
          </a:p>
        </p:txBody>
      </p:sp>
      <p:sp>
        <p:nvSpPr>
          <p:cNvPr id="18" name="text-18">
            <a:extLst xmlns:a="http://schemas.openxmlformats.org/drawingml/2006/main">
              <a:ext uri="{FF2B5EF4-FFF2-40B4-BE49-F238E27FC236}">
                <a16:creationId xmlns:a16="http://schemas.microsoft.com/office/drawing/2014/main" id="{52878E59-77B0-4B5A-A92E-8E0D4B2D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lifecycle=frontier   ·   release_ready=false   ·   human_review_status=awaiting_human_review</a:t>
            </a:r>
          </a:p>
        </p:txBody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593ED6A4-EA20-4BD0-8168-CC402D28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5C59"/>
                </a:solidFill>
                <a:latin typeface="Arial"/>
                <a:ea typeface="Arial"/>
                <a:cs typeface="Arial"/>
              </a:rPr>
              <a:t>현재 데이터는 전부 synthetic이며, production sample과 holdout은 아직 없다.</a:t>
            </a:r>
          </a:p>
        </p:txBody>
      </p:sp>
    </p:spTree>
    <p:extLst>
      <p:ext uri="{BB962C8B-B14F-4D97-AF65-F5344CB8AC3E}">
        <p14:creationId xmlns:p14="http://schemas.microsoft.com/office/powerpoint/2010/main" val="629465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8CBE32A6-570D-440F-B271-074745FF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11F87EB-DDB3-4077-86F5-D5F42930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가장 큰 공백은 데이터가 아니라 판정 생명주기다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5EA33DB-7105-411F-88BB-F91FEAF5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E1BAAC6-0F9D-42E5-BB61-839BE4D7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95C59"/>
                </a:solidFill>
                <a:latin typeface="Arial"/>
                <a:ea typeface="Arial"/>
                <a:cs typeface="Arial"/>
              </a:rPr>
              <a:t>현재 가정</a:t>
            </a:r>
          </a:p>
        </p:txBody>
      </p:sp>
      <p:sp>
        <p:nvSpPr>
          <p:cNvPr id="6" name="box-6">
            <a:extLst xmlns:a="http://schemas.openxmlformats.org/drawingml/2006/main">
              <a:ext uri="{FF2B5EF4-FFF2-40B4-BE49-F238E27FC236}">
                <a16:creationId xmlns:a16="http://schemas.microsoft.com/office/drawing/2014/main" id="{9D01B7BD-1F5B-4EDF-9A2F-7D27509E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4857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1692F24-BA6F-45CB-9112-B3DFEBEB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698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needs_review</a:t>
            </a:r>
          </a:p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human_reviewed</a:t>
            </a:r>
          </a:p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 algn="ctr">
              <a:defRPr sz="23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release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10A671B-D1D5-4F35-A30F-BFCCF8A2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실제 가능한 경로</a:t>
            </a:r>
          </a:p>
        </p:txBody>
      </p:sp>
      <p:sp>
        <p:nvSpPr>
          <p:cNvPr id="9" name="box-9">
            <a:extLst xmlns:a="http://schemas.openxmlformats.org/drawingml/2006/main">
              <a:ext uri="{FF2B5EF4-FFF2-40B4-BE49-F238E27FC236}">
                <a16:creationId xmlns:a16="http://schemas.microsoft.com/office/drawing/2014/main" id="{9351C7BC-2BB8-4011-AC94-A6D14F88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28875"/>
            <a:ext cx="523875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C0D60194-3C4C-4FA1-ACD6-7A89EBB5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813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needs_review → deterministic checks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→ LLM adjudication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→ confidence / disagreement / indeterminate</a:t>
            </a:r>
          </a:p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→ benchmark eligibility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8D3BBDB4-BFB6-47B0-AEED-4A79A5F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현재 required facts 212개는 모두 human grader로 지정되어 있다.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0BFC10FB-41BD-40E8-A671-7FF429C3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5C59"/>
                </a:solidFill>
                <a:latin typeface="Arial"/>
                <a:ea typeface="Arial"/>
                <a:cs typeface="Arial"/>
              </a:rPr>
              <a:t>Gemini 설정은 있지만, Eval spec을 읽어 판정하는 production TrialGrader는 없다.</a:t>
            </a:r>
          </a:p>
        </p:txBody>
      </p:sp>
    </p:spTree>
    <p:extLst>
      <p:ext uri="{BB962C8B-B14F-4D97-AF65-F5344CB8AC3E}">
        <p14:creationId xmlns:p14="http://schemas.microsoft.com/office/powerpoint/2010/main" val="1822996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BBE0F396-8BB9-40E1-B16E-C2089855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LAUNCHPILOT EVAL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A79815-C0B9-412A-9BDE-23E13D39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다음 단계는 끊어진 실행–판정 고리를 연결하는 것이다</a:t>
            </a:r>
          </a:p>
        </p:txBody>
      </p:sp>
      <p:cxnSp>
        <p:nvCxnSpPr>
          <p:cNvPr id="30" name=""/>
          <p:cNvCxnSpPr/>
          <p:nvPr/>
        </p:nvCxnSpPr>
        <p:spPr>
          <a:xfrm xmlns:a="http://schemas.openxmlformats.org/drawingml/2006/main">
            <a:off x="400050" y="14287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E2ACDD2-6376-4BB3-9DC9-5FBCA551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627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666750" y="3162300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sp>
        <p:nvSpPr>
          <p:cNvPr id="6" name="box-6">
            <a:extLst xmlns:a="http://schemas.openxmlformats.org/drawingml/2006/main">
              <a:ext uri="{FF2B5EF4-FFF2-40B4-BE49-F238E27FC236}">
                <a16:creationId xmlns:a16="http://schemas.microsoft.com/office/drawing/2014/main" id="{E944F15D-1685-4440-972B-DA297D45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4A19535-FF17-46C2-A4DD-7967DB470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6E655BFC-FEF2-4FA2-9933-D552A6C9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Agent adapter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B162B86D-4B8E-4124-B1CF-F5B9C8F2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동일 입력으로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실제 시스템 실행</a:t>
            </a:r>
          </a:p>
        </p:txBody>
      </p:sp>
      <p:sp>
        <p:nvSpPr>
          <p:cNvPr id="10" name="box-10">
            <a:extLst xmlns:a="http://schemas.openxmlformats.org/drawingml/2006/main">
              <a:ext uri="{FF2B5EF4-FFF2-40B4-BE49-F238E27FC236}">
                <a16:creationId xmlns:a16="http://schemas.microsoft.com/office/drawing/2014/main" id="{753FC005-22B7-42C1-9DD3-5801893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CF72E9C5-BDAC-41CE-A4FB-42CE3724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431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FCF136F7-859C-4BE4-BE6D-73C77E6C5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571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Gemini Judge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5909AB8F-DEE1-4C90-A6FE-E4529D25D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6195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facts · grounding ·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behavior 판정</a:t>
            </a:r>
          </a:p>
        </p:txBody>
      </p:sp>
      <p:sp>
        <p:nvSpPr>
          <p:cNvPr id="14" name="box-14">
            <a:extLst xmlns:a="http://schemas.openxmlformats.org/drawingml/2006/main">
              <a:ext uri="{FF2B5EF4-FFF2-40B4-BE49-F238E27FC236}">
                <a16:creationId xmlns:a16="http://schemas.microsoft.com/office/drawing/2014/main" id="{F08899FC-4C32-4681-9974-BD184165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3CF6A44F-A779-4AC6-9496-2EA26D2F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431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65353010-4B12-4F1D-8B32-4EE3D38D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Adjudication</a:t>
            </a:r>
          </a:p>
        </p:txBody>
      </p:sp>
      <p:sp>
        <p:nvSpPr>
          <p:cNvPr id="17" name="text-17">
            <a:extLst xmlns:a="http://schemas.openxmlformats.org/drawingml/2006/main">
              <a:ext uri="{FF2B5EF4-FFF2-40B4-BE49-F238E27FC236}">
                <a16:creationId xmlns:a16="http://schemas.microsoft.com/office/drawing/2014/main" id="{B6E49ABE-9A7B-4DE3-937D-C51F6AC6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195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신뢰도 · 불일치 ·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판정 불가 보존</a:t>
            </a:r>
          </a:p>
        </p:txBody>
      </p:sp>
      <p:sp>
        <p:nvSpPr>
          <p:cNvPr id="18" name="box-18">
            <a:extLst xmlns:a="http://schemas.openxmlformats.org/drawingml/2006/main">
              <a:ext uri="{FF2B5EF4-FFF2-40B4-BE49-F238E27FC236}">
                <a16:creationId xmlns:a16="http://schemas.microsoft.com/office/drawing/2014/main" id="{D96A5505-4F00-4220-965C-60A05389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9" name="text-19">
            <a:extLst xmlns:a="http://schemas.openxmlformats.org/drawingml/2006/main">
              <a:ext uri="{FF2B5EF4-FFF2-40B4-BE49-F238E27FC236}">
                <a16:creationId xmlns:a16="http://schemas.microsoft.com/office/drawing/2014/main" id="{969E01BD-1E06-4060-B858-C897A238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1431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26D0099E-4F41-4BCC-BC78-07D8B73C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71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Pilot run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DEDD6CA1-B202-448A-9583-8BBD5882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6195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다중 trial의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신뢰도 · 비용 기록</a:t>
            </a:r>
          </a:p>
        </p:txBody>
      </p:sp>
      <p:sp>
        <p:nvSpPr>
          <p:cNvPr id="22" name="box-22">
            <a:extLst xmlns:a="http://schemas.openxmlformats.org/drawingml/2006/main">
              <a:ext uri="{FF2B5EF4-FFF2-40B4-BE49-F238E27FC236}">
                <a16:creationId xmlns:a16="http://schemas.microsoft.com/office/drawing/2014/main" id="{FCE7E5CF-F5A3-4246-BCD1-51BEBDD9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028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3" name="text-23">
            <a:extLst xmlns:a="http://schemas.openxmlformats.org/drawingml/2006/main">
              <a:ext uri="{FF2B5EF4-FFF2-40B4-BE49-F238E27FC236}">
                <a16:creationId xmlns:a16="http://schemas.microsoft.com/office/drawing/2014/main" id="{4574674A-46FC-4342-8A20-E6978235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43125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81271DF2-92E4-4707-AED4-5AF9D9562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571750"/>
            <a:ext cx="1952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Portfolio</a:t>
            </a:r>
          </a:p>
        </p:txBody>
      </p:sp>
      <p:sp>
        <p:nvSpPr>
          <p:cNvPr id="25" name="text-25">
            <a:extLst xmlns:a="http://schemas.openxmlformats.org/drawingml/2006/main">
              <a:ext uri="{FF2B5EF4-FFF2-40B4-BE49-F238E27FC236}">
                <a16:creationId xmlns:a16="http://schemas.microsoft.com/office/drawing/2014/main" id="{03E1D6B7-4754-4838-9B4A-6ADB378E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619500"/>
            <a:ext cx="1952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frozen · holdout ·</a:t>
            </a:r>
          </a:p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670"/>
                </a:solidFill>
                <a:latin typeface="Arial"/>
                <a:ea typeface="Arial"/>
                <a:cs typeface="Arial"/>
              </a:rPr>
              <a:t>regression · production</a:t>
            </a:r>
          </a:p>
        </p:txBody>
      </p:sp>
      <p:sp>
        <p:nvSpPr>
          <p:cNvPr id="26" name="box-26">
            <a:extLst xmlns:a="http://schemas.openxmlformats.org/drawingml/2006/main">
              <a:ext uri="{FF2B5EF4-FFF2-40B4-BE49-F238E27FC236}">
                <a16:creationId xmlns:a16="http://schemas.microsoft.com/office/drawing/2014/main" id="{D35ACC52-722E-47EB-821D-62D0F52A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2F4"/>
          </a:solidFill>
          <a:ln xmlns:a="http://schemas.openxmlformats.org/drawingml/2006/main" w="0">
            <a:solidFill>
              <a:srgbClr val="F1F2F4"/>
            </a:solidFill>
            <a:prstDash val="solid"/>
          </a:ln>
        </p:spPr>
      </p:sp>
      <p:sp>
        <p:nvSpPr>
          <p:cNvPr id="27" name="text-27">
            <a:extLst xmlns:a="http://schemas.openxmlformats.org/drawingml/2006/main">
              <a:ext uri="{FF2B5EF4-FFF2-40B4-BE49-F238E27FC236}">
                <a16:creationId xmlns:a16="http://schemas.microsoft.com/office/drawing/2014/main" id="{E66055B5-5944-4D81-8DB2-76FC94FF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816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완료 기준: 동일 Problem/Spec에서 architecture 후보들을 반복 실행하고, 품질·회귀·비용을 paired 비교할 수 있다.</a:t>
            </a:r>
          </a:p>
        </p:txBody>
      </p:sp>
    </p:spTree>
    <p:extLst>
      <p:ext uri="{BB962C8B-B14F-4D97-AF65-F5344CB8AC3E}">
        <p14:creationId xmlns:p14="http://schemas.microsoft.com/office/powerpoint/2010/main" val="2041687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35F8D57A-C803-4A13-9AE9-D7F8B500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670"/>
                </a:solidFill>
                <a:latin typeface="Arial"/>
                <a:ea typeface="Arial"/>
                <a:cs typeface="Arial"/>
              </a:rPr>
              <a:t>결론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3BDFBE1-D2D8-4DD5-B26D-77DA40A3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Eval의 목적은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현재 시스템을 설명하는 것이 아니라,</a:t>
            </a:r>
          </a:p>
          <a:p xmlns:a="http://schemas.openxmlformats.org/drawingml/2006/main">
            <a:pPr algn="l">
              <a:defRPr sz="39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다음 시스템이 더 나은지 판정하는 것이다.</a:t>
            </a:r>
          </a:p>
        </p:txBody>
      </p:sp>
      <p:cxnSp>
        <p:nvCxnSpPr>
          <p:cNvPr id="10" name=""/>
          <p:cNvCxnSpPr/>
          <p:nvPr/>
        </p:nvCxnSpPr>
        <p:spPr>
          <a:xfrm xmlns:a="http://schemas.openxmlformats.org/drawingml/2006/main">
            <a:off x="400050" y="4533900"/>
            <a:ext cx="4000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3D8DFF"/>
            </a:solidFill>
            <a:prstDash val="solid"/>
          </a:ln>
        </p:spPr>
      </p:cxn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5C5D21F-ED38-4EAA-B82F-9663B32B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53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현재 확보한 것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7C8CC56-520C-483D-A403-38D3DE96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중심 dataset · 분리된 specification · paired comparison 골격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DFC20E9-F7DB-4941-B4DC-D5D71A1F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5C5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95C59"/>
                </a:solidFill>
                <a:latin typeface="Arial"/>
                <a:ea typeface="Arial"/>
                <a:cs typeface="Arial"/>
              </a:rPr>
              <a:t>다음 결정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4657D92-A877-4B6F-A5B3-074F9B42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8674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LLM Judge 기반 판정 계층을 구현해 첫 controlled run을 만든다.</a:t>
            </a:r>
          </a:p>
        </p:txBody>
      </p:sp>
    </p:spTree>
    <p:extLst>
      <p:ext uri="{BB962C8B-B14F-4D97-AF65-F5344CB8AC3E}">
        <p14:creationId xmlns:p14="http://schemas.microsoft.com/office/powerpoint/2010/main" val="1215433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2026-08-30T10:36:40.6880000Z</dcterms:created>
  <dcterms:modified xsi:type="dcterms:W3CDTF">2026-08-30T10:36:40.6880000Z</dcterms:modified>
</coreProperties>
</file>